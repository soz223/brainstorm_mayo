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515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MEETING  ·  MAY 22, 2026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178308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4F8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Longitudinal &amp; Generative Foundation Models</a:t>
            </a:r>
            <a:endParaRPr lang="en-US" sz="4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4F8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3D Medical Imaging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0" y="36118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Research-Direction Survey &amp; Proposal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619756" y="4709160"/>
            <a:ext cx="1371600" cy="749808"/>
          </a:xfrm>
          <a:prstGeom prst="roundRect">
            <a:avLst>
              <a:gd name="adj" fmla="val 8537"/>
            </a:avLst>
          </a:prstGeom>
          <a:solidFill>
            <a:srgbClr val="1E3D5C"/>
          </a:solidFill>
          <a:ln w="15875">
            <a:solidFill>
              <a:srgbClr val="4CC9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665476" y="4727448"/>
            <a:ext cx="128016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55948" y="5084064"/>
            <a:ext cx="1088136" cy="0"/>
          </a:xfrm>
          <a:prstGeom prst="line">
            <a:avLst/>
          </a:prstGeom>
          <a:noFill/>
          <a:ln w="24130">
            <a:solidFill>
              <a:srgbClr val="4CC9F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408676" y="4709160"/>
            <a:ext cx="1371600" cy="749808"/>
          </a:xfrm>
          <a:prstGeom prst="roundRect">
            <a:avLst>
              <a:gd name="adj" fmla="val 8537"/>
            </a:avLst>
          </a:prstGeom>
          <a:solidFill>
            <a:srgbClr val="1E3D5C"/>
          </a:solidFill>
          <a:ln w="15875">
            <a:solidFill>
              <a:srgbClr val="4CC9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54396" y="4727448"/>
            <a:ext cx="128016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944868" y="5084064"/>
            <a:ext cx="1088136" cy="0"/>
          </a:xfrm>
          <a:prstGeom prst="line">
            <a:avLst/>
          </a:prstGeom>
          <a:noFill/>
          <a:ln w="24130">
            <a:solidFill>
              <a:srgbClr val="4CC9F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197596" y="4709160"/>
            <a:ext cx="1371600" cy="749808"/>
          </a:xfrm>
          <a:prstGeom prst="roundRect">
            <a:avLst>
              <a:gd name="adj" fmla="val 8537"/>
            </a:avLst>
          </a:prstGeom>
          <a:solidFill>
            <a:srgbClr val="1E3D5C"/>
          </a:solidFill>
          <a:ln w="15875">
            <a:solidFill>
              <a:srgbClr val="4CC9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43316" y="4727448"/>
            <a:ext cx="128016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19756" y="556869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patient = an irregular sequence of 3D volumes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0" y="59893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Songlin Zhao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566928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698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Directions on the Table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2C4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177272" y="6400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49808" y="1627632"/>
            <a:ext cx="10698480" cy="1024128"/>
          </a:xfrm>
          <a:prstGeom prst="roundRect">
            <a:avLst>
              <a:gd name="adj" fmla="val 7143"/>
            </a:avLst>
          </a:prstGeom>
          <a:solidFill>
            <a:srgbClr val="1E3D5C"/>
          </a:solidFill>
          <a:ln w="25400">
            <a:solidFill>
              <a:srgbClr val="56D36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865376"/>
            <a:ext cx="548640" cy="548640"/>
          </a:xfrm>
          <a:prstGeom prst="ellipse">
            <a:avLst/>
          </a:prstGeom>
          <a:solidFill>
            <a:srgbClr val="56D364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18653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783080" y="177393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TimeFM-3D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83080" y="21579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3D imaging foundation model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549640" y="1984248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56D364"/>
          </a:solidFill>
          <a:ln/>
        </p:spPr>
      </p:sp>
      <p:sp>
        <p:nvSpPr>
          <p:cNvPr id="14" name="Text 12"/>
          <p:cNvSpPr/>
          <p:nvPr/>
        </p:nvSpPr>
        <p:spPr>
          <a:xfrm>
            <a:off x="8549640" y="19842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LINE — DETAILED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49808" y="2798064"/>
            <a:ext cx="10698480" cy="1024128"/>
          </a:xfrm>
          <a:prstGeom prst="roundRect">
            <a:avLst>
              <a:gd name="adj" fmla="val 7143"/>
            </a:avLst>
          </a:prstGeom>
          <a:solidFill>
            <a:srgbClr val="13283F"/>
          </a:solidFill>
          <a:ln w="12700">
            <a:solidFill>
              <a:srgbClr val="2C4A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3035808"/>
            <a:ext cx="548640" cy="548640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3035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294436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Missing-data VLLM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783080" y="332841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missing modality as a signal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549640" y="3154680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/>
        </p:spPr>
      </p:sp>
      <p:sp>
        <p:nvSpPr>
          <p:cNvPr id="21" name="Text 19"/>
          <p:cNvSpPr/>
          <p:nvPr/>
        </p:nvSpPr>
        <p:spPr>
          <a:xfrm>
            <a:off x="8549640" y="31546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49808" y="3968496"/>
            <a:ext cx="10698480" cy="1024128"/>
          </a:xfrm>
          <a:prstGeom prst="roundRect">
            <a:avLst>
              <a:gd name="adj" fmla="val 7143"/>
            </a:avLst>
          </a:prstGeom>
          <a:solidFill>
            <a:srgbClr val="13283F"/>
          </a:solidFill>
          <a:ln w="12700">
            <a:solidFill>
              <a:srgbClr val="2C4A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" y="4206240"/>
            <a:ext cx="548640" cy="548640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783080" y="4114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Diffusion-as-FM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783080" y="449884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generative model reused as the backbone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549640" y="4325112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/>
        </p:spPr>
      </p:sp>
      <p:sp>
        <p:nvSpPr>
          <p:cNvPr id="28" name="Text 26"/>
          <p:cNvSpPr/>
          <p:nvPr/>
        </p:nvSpPr>
        <p:spPr>
          <a:xfrm>
            <a:off x="8549640" y="432511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49808" y="5138928"/>
            <a:ext cx="10698480" cy="1024128"/>
          </a:xfrm>
          <a:prstGeom prst="roundRect">
            <a:avLst>
              <a:gd name="adj" fmla="val 7143"/>
            </a:avLst>
          </a:prstGeom>
          <a:solidFill>
            <a:srgbClr val="13283F"/>
          </a:solidFill>
          <a:ln w="12700">
            <a:solidFill>
              <a:srgbClr val="2C4A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0120" y="5376672"/>
            <a:ext cx="548640" cy="548640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31" name="Text 29"/>
          <p:cNvSpPr/>
          <p:nvPr/>
        </p:nvSpPr>
        <p:spPr>
          <a:xfrm>
            <a:off x="960120" y="5376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783080" y="528523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Causal VLLM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783080" y="5669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 reasoning over imaging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549640" y="5495544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FFB703"/>
          </a:solidFill>
          <a:ln/>
        </p:spPr>
      </p:sp>
      <p:sp>
        <p:nvSpPr>
          <p:cNvPr id="35" name="Text 33"/>
          <p:cNvSpPr/>
          <p:nvPr/>
        </p:nvSpPr>
        <p:spPr>
          <a:xfrm>
            <a:off x="8549640" y="549554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— NOT OUR STRENGTH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566928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698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Three Suggestions to One Converged Line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2C4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177272" y="6400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705356" y="1828800"/>
            <a:ext cx="8778240" cy="841248"/>
          </a:xfrm>
          <a:prstGeom prst="roundRect">
            <a:avLst>
              <a:gd name="adj" fmla="val 7609"/>
            </a:avLst>
          </a:prstGeom>
          <a:solidFill>
            <a:srgbClr val="1E3D5C"/>
          </a:solidFill>
          <a:ln w="15875">
            <a:solidFill>
              <a:srgbClr val="4CC9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751076" y="1847088"/>
            <a:ext cx="8686800" cy="8046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Advisor's three directions:  dynamic  ·  causal  ·  missing-data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94476" y="2724912"/>
            <a:ext cx="0" cy="457200"/>
          </a:xfrm>
          <a:prstGeom prst="line">
            <a:avLst/>
          </a:prstGeom>
          <a:noFill/>
          <a:ln w="24130">
            <a:solidFill>
              <a:srgbClr val="4CC9F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711196" y="3236976"/>
            <a:ext cx="6766560" cy="841248"/>
          </a:xfrm>
          <a:prstGeom prst="roundRect">
            <a:avLst>
              <a:gd name="adj" fmla="val 7609"/>
            </a:avLst>
          </a:prstGeom>
          <a:solidFill>
            <a:srgbClr val="16304A"/>
          </a:solidFill>
          <a:ln w="15875">
            <a:solidFill>
              <a:srgbClr val="4CC9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56916" y="3255264"/>
            <a:ext cx="6675120" cy="8046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brainstorm rounds  ·  40+ candidate directions  ·  multi-round literature surveys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94476" y="4133088"/>
            <a:ext cx="0" cy="457200"/>
          </a:xfrm>
          <a:prstGeom prst="line">
            <a:avLst/>
          </a:prstGeom>
          <a:noFill/>
          <a:ln w="24130">
            <a:solidFill>
              <a:srgbClr val="4CC9F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808476" y="4645152"/>
            <a:ext cx="4572000" cy="841248"/>
          </a:xfrm>
          <a:prstGeom prst="roundRect">
            <a:avLst>
              <a:gd name="adj" fmla="val 7609"/>
            </a:avLst>
          </a:prstGeom>
          <a:solidFill>
            <a:srgbClr val="1E3D5C"/>
          </a:solidFill>
          <a:ln w="15875">
            <a:solidFill>
              <a:srgbClr val="FFB70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54196" y="4663440"/>
            <a:ext cx="4480560" cy="8046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TimeFM-3D  +  near neighbors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54406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read:  </a:t>
            </a:r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search has converged. Further divergence has near-zero marginal value — the bottleneck is now committing and running experiments, not finding more directions.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566928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1 · TIMEFM-3D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698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Patients Are Sequences, Not Snapshots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2C4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1 · TimeFM-3D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177272" y="6400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33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49808" y="169164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follow-up is a </a:t>
            </a:r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</a:t>
            </a:r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3D CT/MRI over time.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Intervals are </a:t>
            </a:r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</a:t>
            </a:r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3 mo, 7 mo, 14 mo.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clinical question is always about </a:t>
            </a:r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progressing?  responding?  recurring?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scan cannot answer it — the signal lives </a:t>
            </a:r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</a:t>
            </a:r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timepoints.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720840" y="2468880"/>
            <a:ext cx="1280160" cy="1371600"/>
          </a:xfrm>
          <a:prstGeom prst="roundRect">
            <a:avLst>
              <a:gd name="adj" fmla="val 5000"/>
            </a:avLst>
          </a:prstGeom>
          <a:solidFill>
            <a:srgbClr val="1E3D5C"/>
          </a:solidFill>
          <a:ln w="15875">
            <a:solidFill>
              <a:srgbClr val="4CC9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87768" y="3081528"/>
            <a:ext cx="146304" cy="146304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1" name="Text 9"/>
          <p:cNvSpPr/>
          <p:nvPr/>
        </p:nvSpPr>
        <p:spPr>
          <a:xfrm>
            <a:off x="6720840" y="39044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10728" y="3154680"/>
            <a:ext cx="283464" cy="0"/>
          </a:xfrm>
          <a:prstGeom prst="line">
            <a:avLst/>
          </a:prstGeom>
          <a:noFill/>
          <a:ln w="24130">
            <a:solidFill>
              <a:srgbClr val="4CC9F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503920" y="2468880"/>
            <a:ext cx="1280160" cy="1371600"/>
          </a:xfrm>
          <a:prstGeom prst="roundRect">
            <a:avLst>
              <a:gd name="adj" fmla="val 5000"/>
            </a:avLst>
          </a:prstGeom>
          <a:solidFill>
            <a:srgbClr val="1E3D5C"/>
          </a:solidFill>
          <a:ln w="15875">
            <a:solidFill>
              <a:srgbClr val="4CC9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11412" y="3022092"/>
            <a:ext cx="265176" cy="265176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0" y="39044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 months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893808" y="3154680"/>
            <a:ext cx="283464" cy="0"/>
          </a:xfrm>
          <a:prstGeom prst="line">
            <a:avLst/>
          </a:prstGeom>
          <a:noFill/>
          <a:ln w="24130">
            <a:solidFill>
              <a:srgbClr val="4CC9F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0287000" y="2468880"/>
            <a:ext cx="1280160" cy="1371600"/>
          </a:xfrm>
          <a:prstGeom prst="roundRect">
            <a:avLst>
              <a:gd name="adj" fmla="val 5000"/>
            </a:avLst>
          </a:prstGeom>
          <a:solidFill>
            <a:srgbClr val="1E3D5C"/>
          </a:solidFill>
          <a:ln w="15875">
            <a:solidFill>
              <a:srgbClr val="4CC9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735056" y="2962656"/>
            <a:ext cx="384048" cy="384048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9" name="Text 17"/>
          <p:cNvSpPr/>
          <p:nvPr/>
        </p:nvSpPr>
        <p:spPr>
          <a:xfrm>
            <a:off x="10287000" y="39044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 months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20840" y="21214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patient — a brain metastasis followed over time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20840" y="4160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(schematic — lesion enlarging across visits)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566928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1 · TIMEFM-3D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698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Foundation Models See One Timepoint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2C4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1 · TimeFM-3D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177272" y="6400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49808" y="178308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13283F"/>
          </a:solidFill>
          <a:ln w="12700">
            <a:solidFill>
              <a:srgbClr val="2C4A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93852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3D MEDICAL FMs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94560" y="2377440"/>
            <a:ext cx="2286000" cy="822960"/>
          </a:xfrm>
          <a:prstGeom prst="roundRect">
            <a:avLst>
              <a:gd name="adj" fmla="val 7778"/>
            </a:avLst>
          </a:prstGeom>
          <a:solidFill>
            <a:srgbClr val="1E3D5C"/>
          </a:solidFill>
          <a:ln w="15875">
            <a:solidFill>
              <a:srgbClr val="4CC9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240280" y="2395728"/>
            <a:ext cx="2194560" cy="7863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3D volume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7560" y="3255264"/>
            <a:ext cx="0" cy="365760"/>
          </a:xfrm>
          <a:prstGeom prst="line">
            <a:avLst/>
          </a:prstGeom>
          <a:noFill/>
          <a:ln w="24130">
            <a:solidFill>
              <a:srgbClr val="4CC9F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194560" y="3675888"/>
            <a:ext cx="2286000" cy="731520"/>
          </a:xfrm>
          <a:prstGeom prst="roundRect">
            <a:avLst>
              <a:gd name="adj" fmla="val 8750"/>
            </a:avLst>
          </a:prstGeom>
          <a:solidFill>
            <a:srgbClr val="16304A"/>
          </a:solidFill>
          <a:ln w="15875">
            <a:solidFill>
              <a:srgbClr val="4CC9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240280" y="3694176"/>
            <a:ext cx="2194560" cy="6949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37560" y="4462272"/>
            <a:ext cx="0" cy="365760"/>
          </a:xfrm>
          <a:prstGeom prst="line">
            <a:avLst/>
          </a:prstGeom>
          <a:noFill/>
          <a:ln w="24130">
            <a:solidFill>
              <a:srgbClr val="4CC9F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194560" y="4882896"/>
            <a:ext cx="2286000" cy="530352"/>
          </a:xfrm>
          <a:prstGeom prst="roundRect">
            <a:avLst>
              <a:gd name="adj" fmla="val 12069"/>
            </a:avLst>
          </a:prstGeom>
          <a:solidFill>
            <a:srgbClr val="16304A"/>
          </a:solidFill>
          <a:ln w="15875">
            <a:solidFill>
              <a:srgbClr val="4CC9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40280" y="4901184"/>
            <a:ext cx="2194560" cy="49377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9808" y="554126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Merlin · CT-CLIP · CT-FM · RadFM · M3FM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36208" y="178308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1E3D5C"/>
          </a:solidFill>
          <a:ln w="20320">
            <a:solidFill>
              <a:srgbClr val="FFB70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36208" y="19659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MISSING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92240" y="2468880"/>
            <a:ext cx="1188720" cy="777240"/>
          </a:xfrm>
          <a:prstGeom prst="roundRect">
            <a:avLst>
              <a:gd name="adj" fmla="val 7059"/>
            </a:avLst>
          </a:prstGeom>
          <a:solidFill>
            <a:srgbClr val="13283F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28816" y="2468880"/>
            <a:ext cx="1115568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08392" y="2852928"/>
            <a:ext cx="246888" cy="0"/>
          </a:xfrm>
          <a:prstGeom prst="line">
            <a:avLst/>
          </a:prstGeom>
          <a:noFill/>
          <a:ln w="24130">
            <a:solidFill>
              <a:srgbClr val="4CC9F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973568" y="2468880"/>
            <a:ext cx="1188720" cy="777240"/>
          </a:xfrm>
          <a:prstGeom prst="roundRect">
            <a:avLst>
              <a:gd name="adj" fmla="val 7059"/>
            </a:avLst>
          </a:prstGeom>
          <a:solidFill>
            <a:srgbClr val="13283F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10144" y="2468880"/>
            <a:ext cx="1115568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189720" y="2852928"/>
            <a:ext cx="246888" cy="0"/>
          </a:xfrm>
          <a:prstGeom prst="line">
            <a:avLst/>
          </a:prstGeom>
          <a:noFill/>
          <a:ln w="24130">
            <a:solidFill>
              <a:srgbClr val="4CC9F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454896" y="2468880"/>
            <a:ext cx="1188720" cy="777240"/>
          </a:xfrm>
          <a:prstGeom prst="roundRect">
            <a:avLst>
              <a:gd name="adj" fmla="val 7059"/>
            </a:avLst>
          </a:prstGeom>
          <a:solidFill>
            <a:srgbClr val="13283F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91472" y="2468880"/>
            <a:ext cx="1115568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842248" y="3310128"/>
            <a:ext cx="0" cy="457200"/>
          </a:xfrm>
          <a:prstGeom prst="line">
            <a:avLst/>
          </a:prstGeom>
          <a:noFill/>
          <a:ln w="24130">
            <a:solidFill>
              <a:srgbClr val="4CC9F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680960" y="3886200"/>
            <a:ext cx="2286000" cy="868680"/>
          </a:xfrm>
          <a:prstGeom prst="roundRect">
            <a:avLst>
              <a:gd name="adj" fmla="val 7368"/>
            </a:avLst>
          </a:prstGeom>
          <a:solidFill>
            <a:srgbClr val="13283F"/>
          </a:solidFill>
          <a:ln w="15875">
            <a:solidFill>
              <a:srgbClr val="FFB70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726680" y="3904488"/>
            <a:ext cx="2194560" cy="8321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236208" y="49377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FM natively ingests the sequence itself —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236208" y="517550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 axis is the untaken white space.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566928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1 · TIMEFM-3D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698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a Foundation Model — Pretrain Once, Transfer Everywhere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2C4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1 · TimeFM-3D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177272" y="6400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05840" y="1965960"/>
            <a:ext cx="3108960" cy="1097280"/>
          </a:xfrm>
          <a:prstGeom prst="roundRect">
            <a:avLst>
              <a:gd name="adj" fmla="val 5833"/>
            </a:avLst>
          </a:prstGeom>
          <a:solidFill>
            <a:srgbClr val="1E3D5C"/>
          </a:solidFill>
          <a:ln w="15875">
            <a:solidFill>
              <a:srgbClr val="4CC9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51560" y="1984248"/>
            <a:ext cx="3017520" cy="10607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pretraining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large unlabeled scan archives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51960" y="2514600"/>
            <a:ext cx="640080" cy="0"/>
          </a:xfrm>
          <a:prstGeom prst="line">
            <a:avLst/>
          </a:prstGeom>
          <a:noFill/>
          <a:ln w="24130">
            <a:solidFill>
              <a:srgbClr val="4CC9F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029200" y="1965960"/>
            <a:ext cx="2743200" cy="1097280"/>
          </a:xfrm>
          <a:prstGeom prst="roundRect">
            <a:avLst>
              <a:gd name="adj" fmla="val 5833"/>
            </a:avLst>
          </a:prstGeom>
          <a:solidFill>
            <a:srgbClr val="1E3D5C"/>
          </a:solidFill>
          <a:ln w="15875">
            <a:solidFill>
              <a:srgbClr val="FFB70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74920" y="1984248"/>
            <a:ext cx="2651760" cy="10607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 representation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63840" y="2514600"/>
            <a:ext cx="777240" cy="-521208"/>
          </a:xfrm>
          <a:prstGeom prst="line">
            <a:avLst/>
          </a:prstGeom>
          <a:noFill/>
          <a:ln w="21590">
            <a:solidFill>
              <a:srgbClr val="4CC9F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732520" y="1627632"/>
            <a:ext cx="2743200" cy="731520"/>
          </a:xfrm>
          <a:prstGeom prst="roundRect">
            <a:avLst>
              <a:gd name="adj" fmla="val 8750"/>
            </a:avLst>
          </a:prstGeom>
          <a:solidFill>
            <a:srgbClr val="13283F"/>
          </a:solidFill>
          <a:ln w="15875">
            <a:solidFill>
              <a:srgbClr val="4CC9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778240" y="1645920"/>
            <a:ext cx="2651760" cy="6949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Disease-progression risk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863840" y="2514600"/>
            <a:ext cx="777240" cy="438912"/>
          </a:xfrm>
          <a:prstGeom prst="line">
            <a:avLst/>
          </a:prstGeom>
          <a:noFill/>
          <a:ln w="21590">
            <a:solidFill>
              <a:srgbClr val="4CC9F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732520" y="2587752"/>
            <a:ext cx="2743200" cy="731520"/>
          </a:xfrm>
          <a:prstGeom prst="roundRect">
            <a:avLst>
              <a:gd name="adj" fmla="val 8750"/>
            </a:avLst>
          </a:prstGeom>
          <a:solidFill>
            <a:srgbClr val="13283F"/>
          </a:solidFill>
          <a:ln w="15875">
            <a:solidFill>
              <a:srgbClr val="4CC9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778240" y="2606040"/>
            <a:ext cx="2651760" cy="6949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response (RECIST)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863840" y="2514600"/>
            <a:ext cx="777240" cy="1399032"/>
          </a:xfrm>
          <a:prstGeom prst="line">
            <a:avLst/>
          </a:prstGeom>
          <a:noFill/>
          <a:ln w="21590">
            <a:solidFill>
              <a:srgbClr val="4CC9F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732520" y="3547872"/>
            <a:ext cx="2743200" cy="731520"/>
          </a:xfrm>
          <a:prstGeom prst="roundRect">
            <a:avLst>
              <a:gd name="adj" fmla="val 8750"/>
            </a:avLst>
          </a:prstGeom>
          <a:solidFill>
            <a:srgbClr val="13283F"/>
          </a:solidFill>
          <a:ln w="15875">
            <a:solidFill>
              <a:srgbClr val="4CC9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778240" y="3566160"/>
            <a:ext cx="2651760" cy="6949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Recurrence prediction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863840" y="2514600"/>
            <a:ext cx="777240" cy="2359152"/>
          </a:xfrm>
          <a:prstGeom prst="line">
            <a:avLst/>
          </a:prstGeom>
          <a:noFill/>
          <a:ln w="21590">
            <a:solidFill>
              <a:srgbClr val="4CC9F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732520" y="4507992"/>
            <a:ext cx="2743200" cy="731520"/>
          </a:xfrm>
          <a:prstGeom prst="roundRect">
            <a:avLst>
              <a:gd name="adj" fmla="val 8750"/>
            </a:avLst>
          </a:prstGeom>
          <a:solidFill>
            <a:srgbClr val="13283F"/>
          </a:solidFill>
          <a:ln w="15875">
            <a:solidFill>
              <a:srgbClr val="4CC9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778240" y="4526280"/>
            <a:ext cx="2651760" cy="69494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report generation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732520" y="5532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 →  many clinical tasks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05840" y="3657600"/>
            <a:ext cx="6400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medical 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scarcity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expert annotation is the real bottleneck.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pretrained checkpoint 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many downstream tasks with little labeled data.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 axis becomes 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supervision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 labels needed to learn change.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566928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1 · TIMEFM-3D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698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Survey — Who Else Is Working on This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2C4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1 · TimeFM-3D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177272" y="6400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33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1783080"/>
          <a:ext cx="1069848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017520"/>
                <a:gridCol w="2377440"/>
                <a:gridCol w="46634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C9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C9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C9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limitation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C9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TTE Pretraining (Stanford)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 lives in labels; image is not a sequence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SSL-AD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 sequence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brain MRI only; ~3.2k patients; small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CRONOS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multi-timepoint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forecaster, not an FM; no text / EHR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 Flow Matching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 sequence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generative, not a representation FM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Merlin (Nature 2026)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CT + EHR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static; timeline in EHR labels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BioViL-T / MAIRA-2 (Microsoft)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chest X-rays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2D, not 3D  —  deep-dived next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5C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49808" y="57150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has shipped the full set:  </a:t>
            </a:r>
            <a:pPr indent="0" marL="0">
              <a:buNone/>
            </a:pPr>
            <a:r>
              <a:rPr lang="en-US" sz="12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FM-scale + multi-organ + 3D sequence + interval-aware SSL + multimodal.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566928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1 · TIMEFM-3D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698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the Field Is Saturated — and Where It Is Empty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2C4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1 · TimeFM-3D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177272" y="6400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33</a:t>
            </a:r>
            <a:endParaRPr lang="en-US" sz="9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1783080"/>
          <a:ext cx="1069848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108960"/>
                <a:gridCol w="374904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C9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Maturity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C9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Representative 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C9F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Single-timepoint 3D FM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Saturated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Merlin, CT-CLIP, CT-FM, RadFM, M3FM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image + EHR-label timeline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Taken (Stanford)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TTE Pretraining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2D longitudinal SSL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Mature (mostly CXR)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BioViL-T, MAIRA-2, L-MAE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 longitudinal SSL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Empty — the 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SSL-AD (brain-only, small)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5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 longitudinal generation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Heating 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BrLP, SADM, Temporal Flow Matching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49808" y="5806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longitudinal self-supervised learning is essentially empty.  </a:t>
            </a:r>
            <a:pPr indent="0" marL="0">
              <a:buNone/>
            </a:pPr>
            <a:r>
              <a:rPr lang="en-US" sz="12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opening.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566928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1 · TIMEFM-3D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698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TimeFM-3D — The Untaken Quadrant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2C4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1 · TimeFM-3D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177272" y="6400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33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194560" y="26289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4CC9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194560" y="46405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2A8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108960" y="59161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A8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single-timepoint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269480" y="59161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longitudinal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108960" y="2011680"/>
            <a:ext cx="3931920" cy="1783080"/>
          </a:xfrm>
          <a:prstGeom prst="roundRect">
            <a:avLst>
              <a:gd name="adj" fmla="val 3590"/>
            </a:avLst>
          </a:prstGeom>
          <a:solidFill>
            <a:srgbClr val="13283F"/>
          </a:solidFill>
          <a:ln w="12700">
            <a:solidFill>
              <a:srgbClr val="2C4A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23042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8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3D · single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0" y="285292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Merlin, CT-FM, CT-CLIP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269480" y="2011680"/>
            <a:ext cx="3931920" cy="1783080"/>
          </a:xfrm>
          <a:prstGeom prst="roundRect">
            <a:avLst>
              <a:gd name="adj" fmla="val 3590"/>
            </a:avLst>
          </a:prstGeom>
          <a:solidFill>
            <a:srgbClr val="1E3D5C"/>
          </a:solidFill>
          <a:ln w="28575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60920" y="23042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TimeFM-3D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360920" y="285292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3D sequence · interval-aware SSL · multimodal · an FM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108960" y="4023360"/>
            <a:ext cx="3931920" cy="1783080"/>
          </a:xfrm>
          <a:prstGeom prst="roundRect">
            <a:avLst>
              <a:gd name="adj" fmla="val 3590"/>
            </a:avLst>
          </a:prstGeom>
          <a:solidFill>
            <a:srgbClr val="13283F"/>
          </a:solidFill>
          <a:ln w="12700">
            <a:solidFill>
              <a:srgbClr val="2C4A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431596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8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2D · single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00400" y="486460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CT-CLIP-type encoders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269480" y="4023360"/>
            <a:ext cx="3931920" cy="1783080"/>
          </a:xfrm>
          <a:prstGeom prst="roundRect">
            <a:avLst>
              <a:gd name="adj" fmla="val 3590"/>
            </a:avLst>
          </a:prstGeom>
          <a:solidFill>
            <a:srgbClr val="13283F"/>
          </a:solidFill>
          <a:ln w="12700">
            <a:solidFill>
              <a:srgbClr val="2C4A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60920" y="431596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8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2D · longitudinal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60920" y="486460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BioViL-T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566928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1 · TIMEFM-3D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698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Deep-Dive — BioViL-T (Microsoft, CVPR 2023)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2C4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1 · TimeFM-3D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177272" y="6400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117973" y="1755648"/>
            <a:ext cx="3586347" cy="4123944"/>
          </a:xfrm>
          <a:prstGeom prst="roundRect">
            <a:avLst>
              <a:gd name="adj" fmla="val 1275"/>
            </a:avLst>
          </a:prstGeom>
          <a:solidFill>
            <a:srgbClr val="FFFFFF"/>
          </a:solidFill>
          <a:ln w="12700">
            <a:solidFill>
              <a:srgbClr val="2C4A66"/>
            </a:solidFill>
            <a:prstDash val="solid"/>
          </a:ln>
        </p:spPr>
      </p:sp>
      <p:pic>
        <p:nvPicPr>
          <p:cNvPr id="9" name="Image 0" descr="figures/biovilt-fi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0853" y="1901952"/>
            <a:ext cx="3220587" cy="3794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117973" y="5934456"/>
            <a:ext cx="35863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BioViL-T, Figure 1 (Microsoft, CVPR 2023)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49808" y="17830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closest 2D longitudinal vision-language FM.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49808" y="2331720"/>
            <a:ext cx="52120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</a:t>
            </a:r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VLP uses only a </a:t>
            </a:r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image</a:t>
            </a:r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InfoNCE contrastive learning.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</a:t>
            </a:r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Discarding temporal links </a:t>
            </a:r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weakens image–text alignment</a:t>
            </a:r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(see the affinity matrix).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(c)(d) </a:t>
            </a:r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BioViL-T adds the </a:t>
            </a:r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+ current image</a:t>
            </a:r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does spatiotemporal modelling.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learns temporal phrases — </a:t>
            </a:r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“unchanged”, “worsening”</a:t>
            </a:r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reaches SOTA.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566928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1 · TIMEFM-3D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698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BioViL-T Validates the Idea — in 2D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2C4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1 · TimeFM-3D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177272" y="6400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49808" y="1783080"/>
            <a:ext cx="5212080" cy="4069080"/>
          </a:xfrm>
          <a:prstGeom prst="roundRect">
            <a:avLst>
              <a:gd name="adj" fmla="val 1798"/>
            </a:avLst>
          </a:prstGeom>
          <a:solidFill>
            <a:srgbClr val="13283F"/>
          </a:solidFill>
          <a:ln w="17780">
            <a:solidFill>
              <a:srgbClr val="56D3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9659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PROVES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2423160"/>
            <a:ext cx="4663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links are </a:t>
            </a:r>
            <a:pPr indent="0" marL="0">
              <a:lnSpc>
                <a:spcPct val="105000"/>
              </a:lnSpc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extra supervision</a:t>
            </a:r>
            <a:pPr indent="0" marL="0">
              <a:lnSpc>
                <a:spcPct val="105000"/>
              </a:lnSpc>
              <a:spcAft>
                <a:spcPts val="1300"/>
              </a:spcAft>
              <a:buNone/>
            </a:pPr>
            <a:r>
              <a:rPr lang="en-US" sz="13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change </a:t>
            </a:r>
            <a:pPr indent="0" marL="0">
              <a:lnSpc>
                <a:spcPct val="105000"/>
              </a:lnSpc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representations</a:t>
            </a:r>
            <a:pPr indent="0" marL="0">
              <a:lnSpc>
                <a:spcPct val="105000"/>
              </a:lnSpc>
              <a:spcAft>
                <a:spcPts val="1300"/>
              </a:spcAft>
              <a:buNone/>
            </a:pPr>
            <a:r>
              <a:rPr lang="en-US" sz="13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downstream SOTA.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longitudinal premise is </a:t>
            </a:r>
            <a:pPr indent="0" marL="0">
              <a:lnSpc>
                <a:spcPct val="105000"/>
              </a:lnSpc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</a:t>
            </a:r>
            <a:pPr indent="0" marL="0">
              <a:lnSpc>
                <a:spcPct val="105000"/>
              </a:lnSpc>
              <a:spcAft>
                <a:spcPts val="1300"/>
              </a:spcAft>
              <a:buNone/>
            </a:pPr>
            <a:r>
              <a:rPr lang="en-US" sz="13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empirically demonstrated.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36208" y="1783080"/>
            <a:ext cx="5212080" cy="4069080"/>
          </a:xfrm>
          <a:prstGeom prst="roundRect">
            <a:avLst>
              <a:gd name="adj" fmla="val 1798"/>
            </a:avLst>
          </a:prstGeom>
          <a:solidFill>
            <a:srgbClr val="1E3D5C"/>
          </a:solidFill>
          <a:ln w="20320">
            <a:solidFill>
              <a:srgbClr val="FFB70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36208" y="19659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LEAVES OPEN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37960" y="2423160"/>
            <a:ext cx="4663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</a:t>
            </a:r>
            <a:pPr indent="0" marL="0">
              <a:lnSpc>
                <a:spcPct val="105000"/>
              </a:lnSpc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timepoints</a:t>
            </a:r>
            <a:pPr indent="0" marL="0">
              <a:lnSpc>
                <a:spcPct val="105000"/>
              </a:lnSpc>
              <a:spcAft>
                <a:spcPts val="1300"/>
              </a:spcAft>
              <a:buNone/>
            </a:pPr>
            <a:r>
              <a:rPr lang="en-US" sz="13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(prior + current).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</a:t>
            </a:r>
            <a:pPr indent="0" marL="0">
              <a:lnSpc>
                <a:spcPct val="105000"/>
              </a:lnSpc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chest X-ray</a:t>
            </a:r>
            <a:pPr indent="0" marL="0">
              <a:lnSpc>
                <a:spcPct val="105000"/>
              </a:lnSpc>
              <a:spcAft>
                <a:spcPts val="1300"/>
              </a:spcAft>
              <a:buNone/>
            </a:pPr>
            <a:r>
              <a:rPr lang="en-US" sz="13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one anatomy.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</a:t>
            </a:r>
            <a:pPr indent="0" marL="0">
              <a:lnSpc>
                <a:spcPct val="105000"/>
              </a:lnSpc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volumes</a:t>
            </a:r>
            <a:pPr indent="0" marL="0">
              <a:lnSpc>
                <a:spcPct val="105000"/>
              </a:lnSpc>
              <a:spcAft>
                <a:spcPts val="1300"/>
              </a:spcAft>
              <a:buNone/>
            </a:pPr>
            <a:r>
              <a:rPr lang="en-US" sz="13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 irregular Δt, no multi-organ, no multimodal fusion.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49808" y="59436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TimeFM-3D = </a:t>
            </a:r>
            <a:pPr algn="ctr" indent="0" marL="0">
              <a:buNone/>
            </a:pPr>
            <a:r>
              <a:rPr lang="en-US" sz="11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idea generalized to 3D · K timepoints · multi-organ · irregular intervals.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566928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1 · TIMEFM-3D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698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TimeFM-3D — Native Multi-Timepoint 3D Encoder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2C4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1 · TimeFM-3D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177272" y="6400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49808" y="1828800"/>
            <a:ext cx="1417320" cy="749808"/>
          </a:xfrm>
          <a:prstGeom prst="roundRect">
            <a:avLst>
              <a:gd name="adj" fmla="val 8537"/>
            </a:avLst>
          </a:prstGeom>
          <a:solidFill>
            <a:srgbClr val="1E3D5C"/>
          </a:solidFill>
          <a:ln w="15875">
            <a:solidFill>
              <a:srgbClr val="4CC9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95528" y="1847088"/>
            <a:ext cx="132588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t1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12848" y="2203704"/>
            <a:ext cx="822960" cy="996696"/>
          </a:xfrm>
          <a:prstGeom prst="line">
            <a:avLst/>
          </a:prstGeom>
          <a:noFill/>
          <a:ln w="21590">
            <a:solidFill>
              <a:srgbClr val="4CC9F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49808" y="2788920"/>
            <a:ext cx="1417320" cy="749808"/>
          </a:xfrm>
          <a:prstGeom prst="roundRect">
            <a:avLst>
              <a:gd name="adj" fmla="val 8537"/>
            </a:avLst>
          </a:prstGeom>
          <a:solidFill>
            <a:srgbClr val="1E3D5C"/>
          </a:solidFill>
          <a:ln w="15875">
            <a:solidFill>
              <a:srgbClr val="4CC9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95528" y="2807208"/>
            <a:ext cx="132588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t2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12848" y="3163824"/>
            <a:ext cx="822960" cy="36576"/>
          </a:xfrm>
          <a:prstGeom prst="line">
            <a:avLst/>
          </a:prstGeom>
          <a:noFill/>
          <a:ln w="21590">
            <a:solidFill>
              <a:srgbClr val="4CC9F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9808" y="3749040"/>
            <a:ext cx="1417320" cy="749808"/>
          </a:xfrm>
          <a:prstGeom prst="roundRect">
            <a:avLst>
              <a:gd name="adj" fmla="val 8537"/>
            </a:avLst>
          </a:prstGeom>
          <a:solidFill>
            <a:srgbClr val="1E3D5C"/>
          </a:solidFill>
          <a:ln w="15875">
            <a:solidFill>
              <a:srgbClr val="4CC9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95528" y="3767328"/>
            <a:ext cx="1325880" cy="7132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t3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12848" y="4123944"/>
            <a:ext cx="822960" cy="-923544"/>
          </a:xfrm>
          <a:prstGeom prst="line">
            <a:avLst/>
          </a:prstGeom>
          <a:noFill/>
          <a:ln w="21590">
            <a:solidFill>
              <a:srgbClr val="4CC9F0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749808" y="47365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 Δt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108960" y="2286000"/>
            <a:ext cx="1828800" cy="1828800"/>
          </a:xfrm>
          <a:prstGeom prst="roundRect">
            <a:avLst>
              <a:gd name="adj" fmla="val 3500"/>
            </a:avLst>
          </a:prstGeom>
          <a:solidFill>
            <a:srgbClr val="16304A"/>
          </a:solidFill>
          <a:ln w="15875">
            <a:solidFill>
              <a:srgbClr val="4CC9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154680" y="2304288"/>
            <a:ext cx="1737360" cy="17922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Volume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(shared weights)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83480" y="3200400"/>
            <a:ext cx="457200" cy="0"/>
          </a:xfrm>
          <a:prstGeom prst="line">
            <a:avLst/>
          </a:prstGeom>
          <a:noFill/>
          <a:ln w="24130">
            <a:solidFill>
              <a:srgbClr val="4CC9F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486400" y="2926080"/>
            <a:ext cx="548640" cy="548640"/>
          </a:xfrm>
          <a:prstGeom prst="ellipse">
            <a:avLst/>
          </a:prstGeom>
          <a:solidFill>
            <a:srgbClr val="13283F"/>
          </a:solidFill>
          <a:ln w="15875">
            <a:solidFill>
              <a:srgbClr val="4CC9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CC9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349240" y="3703320"/>
            <a:ext cx="822960" cy="548640"/>
          </a:xfrm>
          <a:prstGeom prst="roundRect">
            <a:avLst>
              <a:gd name="adj" fmla="val 10000"/>
            </a:avLst>
          </a:prstGeom>
          <a:solidFill>
            <a:srgbClr val="13283F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85816" y="3703320"/>
            <a:ext cx="749808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(Δt)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760720" y="3703320"/>
            <a:ext cx="0" cy="-228600"/>
          </a:xfrm>
          <a:prstGeom prst="line">
            <a:avLst/>
          </a:prstGeom>
          <a:noFill/>
          <a:ln w="20320">
            <a:solidFill>
              <a:srgbClr val="4CC9F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126480" y="3200400"/>
            <a:ext cx="457200" cy="0"/>
          </a:xfrm>
          <a:prstGeom prst="line">
            <a:avLst/>
          </a:prstGeom>
          <a:noFill/>
          <a:ln w="24130">
            <a:solidFill>
              <a:srgbClr val="4CC9F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675120" y="2286000"/>
            <a:ext cx="2468880" cy="1828800"/>
          </a:xfrm>
          <a:prstGeom prst="roundRect">
            <a:avLst>
              <a:gd name="adj" fmla="val 3500"/>
            </a:avLst>
          </a:prstGeom>
          <a:solidFill>
            <a:srgbClr val="1E3D5C"/>
          </a:solidFill>
          <a:ln w="28575">
            <a:solidFill>
              <a:srgbClr val="FFB70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720840" y="2304288"/>
            <a:ext cx="2377440" cy="17922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Transformer</a:t>
            </a:r>
            <a:endParaRPr lang="en-US" sz="1150" dirty="0"/>
          </a:p>
          <a:p>
            <a:pPr algn="ctr" indent="0" marL="0">
              <a:buNone/>
            </a:pP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Δt-aware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cross-visit attention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189720" y="3200400"/>
            <a:ext cx="457200" cy="0"/>
          </a:xfrm>
          <a:prstGeom prst="line">
            <a:avLst/>
          </a:prstGeom>
          <a:noFill/>
          <a:ln w="24130">
            <a:solidFill>
              <a:srgbClr val="4CC9F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692640" y="2468880"/>
            <a:ext cx="1783080" cy="1463040"/>
          </a:xfrm>
          <a:prstGeom prst="roundRect">
            <a:avLst>
              <a:gd name="adj" fmla="val 4375"/>
            </a:avLst>
          </a:prstGeom>
          <a:solidFill>
            <a:srgbClr val="16304A"/>
          </a:solidFill>
          <a:ln w="15875">
            <a:solidFill>
              <a:srgbClr val="4CC9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738360" y="2487168"/>
            <a:ext cx="1691640" cy="14264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0584180" y="3950208"/>
            <a:ext cx="0" cy="466344"/>
          </a:xfrm>
          <a:prstGeom prst="line">
            <a:avLst/>
          </a:prstGeom>
          <a:noFill/>
          <a:ln w="24130">
            <a:solidFill>
              <a:srgbClr val="4CC9F0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577840" y="4434840"/>
            <a:ext cx="5006340" cy="0"/>
          </a:xfrm>
          <a:prstGeom prst="line">
            <a:avLst/>
          </a:prstGeom>
          <a:noFill/>
          <a:ln w="20320">
            <a:solidFill>
              <a:srgbClr val="4CC9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577840" y="4434840"/>
            <a:ext cx="0" cy="310896"/>
          </a:xfrm>
          <a:prstGeom prst="line">
            <a:avLst/>
          </a:prstGeom>
          <a:noFill/>
          <a:ln w="24130">
            <a:solidFill>
              <a:srgbClr val="4CC9F0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727448" y="4773168"/>
            <a:ext cx="1700784" cy="621792"/>
          </a:xfrm>
          <a:prstGeom prst="roundRect">
            <a:avLst>
              <a:gd name="adj" fmla="val 8824"/>
            </a:avLst>
          </a:prstGeom>
          <a:solidFill>
            <a:srgbClr val="13283F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64024" y="4773168"/>
            <a:ext cx="1627632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315200" y="4434840"/>
            <a:ext cx="0" cy="310896"/>
          </a:xfrm>
          <a:prstGeom prst="line">
            <a:avLst/>
          </a:prstGeom>
          <a:noFill/>
          <a:ln w="24130">
            <a:solidFill>
              <a:srgbClr val="4CC9F0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464808" y="4773168"/>
            <a:ext cx="1700784" cy="621792"/>
          </a:xfrm>
          <a:prstGeom prst="roundRect">
            <a:avLst>
              <a:gd name="adj" fmla="val 8824"/>
            </a:avLst>
          </a:prstGeom>
          <a:solidFill>
            <a:srgbClr val="13283F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01384" y="4773168"/>
            <a:ext cx="1627632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052560" y="4434840"/>
            <a:ext cx="0" cy="310896"/>
          </a:xfrm>
          <a:prstGeom prst="line">
            <a:avLst/>
          </a:prstGeom>
          <a:noFill/>
          <a:ln w="24130">
            <a:solidFill>
              <a:srgbClr val="4CC9F0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8202168" y="4773168"/>
            <a:ext cx="1700784" cy="621792"/>
          </a:xfrm>
          <a:prstGeom prst="roundRect">
            <a:avLst>
              <a:gd name="adj" fmla="val 8824"/>
            </a:avLst>
          </a:prstGeom>
          <a:solidFill>
            <a:srgbClr val="13283F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38744" y="4773168"/>
            <a:ext cx="1627632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10584180" y="4434840"/>
            <a:ext cx="0" cy="310896"/>
          </a:xfrm>
          <a:prstGeom prst="line">
            <a:avLst/>
          </a:prstGeom>
          <a:noFill/>
          <a:ln w="24130">
            <a:solidFill>
              <a:srgbClr val="4CC9F0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9733788" y="4773168"/>
            <a:ext cx="1700784" cy="621792"/>
          </a:xfrm>
          <a:prstGeom prst="roundRect">
            <a:avLst>
              <a:gd name="adj" fmla="val 8824"/>
            </a:avLst>
          </a:prstGeom>
          <a:solidFill>
            <a:srgbClr val="13283F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770364" y="4773168"/>
            <a:ext cx="1627632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206240" y="565099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trajectory embedding  →  many downstream clinical tasks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566928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1 · TIMEFM-3D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698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Learns — Three Self-Supervised Objectives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2C4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1 · TimeFM-3D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177272" y="6400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49808" y="1783080"/>
            <a:ext cx="3456432" cy="4343400"/>
          </a:xfrm>
          <a:prstGeom prst="roundRect">
            <a:avLst>
              <a:gd name="adj" fmla="val 2116"/>
            </a:avLst>
          </a:prstGeom>
          <a:solidFill>
            <a:srgbClr val="13283F"/>
          </a:solidFill>
          <a:ln w="12700">
            <a:solidFill>
              <a:srgbClr val="2C4A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201168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/>
        </p:spPr>
      </p:sp>
      <p:sp>
        <p:nvSpPr>
          <p:cNvPr id="10" name="Text 8"/>
          <p:cNvSpPr/>
          <p:nvPr/>
        </p:nvSpPr>
        <p:spPr>
          <a:xfrm>
            <a:off x="1024128" y="20116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IA-MVM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24128" y="2468880"/>
            <a:ext cx="2907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8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Interval-Aware Masked Volume Modeling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133856" y="3520440"/>
            <a:ext cx="749808" cy="548640"/>
          </a:xfrm>
          <a:prstGeom prst="roundRect">
            <a:avLst>
              <a:gd name="adj" fmla="val 8333"/>
            </a:avLst>
          </a:prstGeom>
          <a:solidFill>
            <a:srgbClr val="1E3D5C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33856" y="3520440"/>
            <a:ext cx="749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048256" y="3520440"/>
            <a:ext cx="749808" cy="548640"/>
          </a:xfrm>
          <a:prstGeom prst="roundRect">
            <a:avLst>
              <a:gd name="adj" fmla="val 8333"/>
            </a:avLst>
          </a:prstGeom>
          <a:solidFill>
            <a:srgbClr val="0D1B2A"/>
          </a:solidFill>
          <a:ln w="20320">
            <a:solidFill>
              <a:srgbClr val="FFB703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2048256" y="3520440"/>
            <a:ext cx="749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962656" y="3520440"/>
            <a:ext cx="749808" cy="548640"/>
          </a:xfrm>
          <a:prstGeom prst="roundRect">
            <a:avLst>
              <a:gd name="adj" fmla="val 8333"/>
            </a:avLst>
          </a:prstGeom>
          <a:solidFill>
            <a:srgbClr val="1E3D5C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62656" y="3520440"/>
            <a:ext cx="749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83664" y="3794760"/>
            <a:ext cx="164592" cy="0"/>
          </a:xfrm>
          <a:prstGeom prst="line">
            <a:avLst/>
          </a:prstGeom>
          <a:noFill/>
          <a:ln w="17780">
            <a:solidFill>
              <a:srgbClr val="4CC9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98064" y="3794760"/>
            <a:ext cx="164592" cy="0"/>
          </a:xfrm>
          <a:prstGeom prst="line">
            <a:avLst/>
          </a:prstGeom>
          <a:noFill/>
          <a:ln w="17780">
            <a:solidFill>
              <a:srgbClr val="4CC9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4128" y="4297680"/>
            <a:ext cx="290779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a volume in the sequence, reconstruct it from neighbors. Short Δt → higher mask ratio; long Δt → predict the delta.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4370832" y="1783080"/>
            <a:ext cx="3456432" cy="4343400"/>
          </a:xfrm>
          <a:prstGeom prst="roundRect">
            <a:avLst>
              <a:gd name="adj" fmla="val 2116"/>
            </a:avLst>
          </a:prstGeom>
          <a:solidFill>
            <a:srgbClr val="13283F"/>
          </a:solidFill>
          <a:ln w="12700">
            <a:solidFill>
              <a:srgbClr val="2C4A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45152" y="201168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/>
        </p:spPr>
      </p:sp>
      <p:sp>
        <p:nvSpPr>
          <p:cNvPr id="23" name="Text 21"/>
          <p:cNvSpPr/>
          <p:nvPr/>
        </p:nvSpPr>
        <p:spPr>
          <a:xfrm>
            <a:off x="4645152" y="20116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NVP-LS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645152" y="2468880"/>
            <a:ext cx="2907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8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Next-Volume Prediction in Latent Space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754880" y="3520440"/>
            <a:ext cx="749808" cy="548640"/>
          </a:xfrm>
          <a:prstGeom prst="roundRect">
            <a:avLst>
              <a:gd name="adj" fmla="val 8333"/>
            </a:avLst>
          </a:prstGeom>
          <a:solidFill>
            <a:srgbClr val="1E3D5C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520440"/>
            <a:ext cx="749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504688" y="3794760"/>
            <a:ext cx="164592" cy="0"/>
          </a:xfrm>
          <a:prstGeom prst="line">
            <a:avLst/>
          </a:prstGeom>
          <a:noFill/>
          <a:ln w="24130">
            <a:solidFill>
              <a:srgbClr val="4CC9F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669280" y="3520440"/>
            <a:ext cx="749808" cy="548640"/>
          </a:xfrm>
          <a:prstGeom prst="roundRect">
            <a:avLst>
              <a:gd name="adj" fmla="val 8333"/>
            </a:avLst>
          </a:prstGeom>
          <a:solidFill>
            <a:srgbClr val="1E3D5C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3520440"/>
            <a:ext cx="749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19088" y="3794760"/>
            <a:ext cx="164592" cy="0"/>
          </a:xfrm>
          <a:prstGeom prst="line">
            <a:avLst/>
          </a:prstGeom>
          <a:noFill/>
          <a:ln w="24130">
            <a:solidFill>
              <a:srgbClr val="4CC9F0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583680" y="3520440"/>
            <a:ext cx="749808" cy="548640"/>
          </a:xfrm>
          <a:prstGeom prst="roundRect">
            <a:avLst>
              <a:gd name="adj" fmla="val 8333"/>
            </a:avLst>
          </a:prstGeom>
          <a:solidFill>
            <a:srgbClr val="0D1B2A"/>
          </a:solidFill>
          <a:ln w="20320">
            <a:solidFill>
              <a:srgbClr val="FFB703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6583680" y="3520440"/>
            <a:ext cx="749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Vₖ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645152" y="4297680"/>
            <a:ext cx="290779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V₁ … Vₖ₋₁, predict the latent of the next volume Vₖ — forecasting as a pretraining signal.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7991856" y="1783080"/>
            <a:ext cx="3456432" cy="4343400"/>
          </a:xfrm>
          <a:prstGeom prst="roundRect">
            <a:avLst>
              <a:gd name="adj" fmla="val 2116"/>
            </a:avLst>
          </a:prstGeom>
          <a:solidFill>
            <a:srgbClr val="13283F"/>
          </a:solidFill>
          <a:ln w="12700">
            <a:solidFill>
              <a:srgbClr val="2C4A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66176" y="201168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/>
        </p:spPr>
      </p:sp>
      <p:sp>
        <p:nvSpPr>
          <p:cNvPr id="36" name="Text 34"/>
          <p:cNvSpPr/>
          <p:nvPr/>
        </p:nvSpPr>
        <p:spPr>
          <a:xfrm>
            <a:off x="8266176" y="20116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CMTC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266176" y="2468880"/>
            <a:ext cx="2907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8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Cross-Modal Temporal Contrast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8494776" y="3520440"/>
            <a:ext cx="914400" cy="548640"/>
          </a:xfrm>
          <a:prstGeom prst="roundRect">
            <a:avLst>
              <a:gd name="adj" fmla="val 8333"/>
            </a:avLst>
          </a:prstGeom>
          <a:solidFill>
            <a:srgbClr val="1E3D5C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94776" y="3520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volume@t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9866376" y="3520440"/>
            <a:ext cx="914400" cy="548640"/>
          </a:xfrm>
          <a:prstGeom prst="roundRect">
            <a:avLst>
              <a:gd name="adj" fmla="val 8333"/>
            </a:avLst>
          </a:prstGeom>
          <a:solidFill>
            <a:srgbClr val="1E3D5C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866376" y="3520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report@t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9409176" y="3794760"/>
            <a:ext cx="457200" cy="0"/>
          </a:xfrm>
          <a:prstGeom prst="line">
            <a:avLst/>
          </a:prstGeom>
          <a:noFill/>
          <a:ln w="17780">
            <a:solidFill>
              <a:srgbClr val="4CC9F0"/>
            </a:solidFill>
            <a:prstDash val="solid"/>
            <a:headEnd type="triangle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8266176" y="4297680"/>
            <a:ext cx="290779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volume@t with its report / EHR window via InfoNCE; push other timepoints of the same patient apart.</a:t>
            </a:r>
            <a:endParaRPr lang="en-US" sz="10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566928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1 · TIMEFM-3D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698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 Is Continuous and Irregular — Model It Explicitly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2C4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1 · TimeFM-3D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177272" y="6400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280160" y="2377440"/>
            <a:ext cx="9601200" cy="0"/>
          </a:xfrm>
          <a:prstGeom prst="line">
            <a:avLst/>
          </a:prstGeom>
          <a:noFill/>
          <a:ln w="19050">
            <a:solidFill>
              <a:srgbClr val="2C4A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2286000"/>
            <a:ext cx="182880" cy="182880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25237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1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0" y="2286000"/>
            <a:ext cx="182880" cy="182880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25237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2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498080" y="2286000"/>
            <a:ext cx="182880" cy="182880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0" y="25237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3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0149840" y="2286000"/>
            <a:ext cx="182880" cy="182880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16" name="Text 14"/>
          <p:cNvSpPr/>
          <p:nvPr/>
        </p:nvSpPr>
        <p:spPr>
          <a:xfrm>
            <a:off x="9692640" y="25237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4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920240" y="19933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Δt = 3 mo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19933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Δt = 13 mo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92440" y="19933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Δt = 9 mo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280160" y="3383280"/>
            <a:ext cx="2926080" cy="1005840"/>
          </a:xfrm>
          <a:prstGeom prst="roundRect">
            <a:avLst>
              <a:gd name="adj" fmla="val 6364"/>
            </a:avLst>
          </a:prstGeom>
          <a:solidFill>
            <a:srgbClr val="1E3D5C"/>
          </a:solidFill>
          <a:ln w="15875">
            <a:solidFill>
              <a:srgbClr val="4CC9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325880" y="3401568"/>
            <a:ext cx="2834640" cy="9692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Time2Vec / Fourier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continuous-time encoding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97680" y="3886200"/>
            <a:ext cx="502920" cy="0"/>
          </a:xfrm>
          <a:prstGeom prst="line">
            <a:avLst/>
          </a:prstGeom>
          <a:noFill/>
          <a:ln w="24130">
            <a:solidFill>
              <a:srgbClr val="4CC9F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892040" y="3383280"/>
            <a:ext cx="2926080" cy="1005840"/>
          </a:xfrm>
          <a:prstGeom prst="roundRect">
            <a:avLst>
              <a:gd name="adj" fmla="val 6364"/>
            </a:avLst>
          </a:prstGeom>
          <a:solidFill>
            <a:srgbClr val="1E3D5C"/>
          </a:solidFill>
          <a:ln w="15875">
            <a:solidFill>
              <a:srgbClr val="4CC9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37760" y="3401568"/>
            <a:ext cx="2834640" cy="9692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into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+ visit tokens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909560" y="3886200"/>
            <a:ext cx="502920" cy="0"/>
          </a:xfrm>
          <a:prstGeom prst="line">
            <a:avLst/>
          </a:prstGeom>
          <a:noFill/>
          <a:ln w="24130">
            <a:solidFill>
              <a:srgbClr val="4CC9F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503920" y="3383280"/>
            <a:ext cx="3108960" cy="1005840"/>
          </a:xfrm>
          <a:prstGeom prst="roundRect">
            <a:avLst>
              <a:gd name="adj" fmla="val 6364"/>
            </a:avLst>
          </a:prstGeom>
          <a:solidFill>
            <a:srgbClr val="1E3D5C"/>
          </a:solidFill>
          <a:ln w="15875">
            <a:solidFill>
              <a:srgbClr val="FFB70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549640" y="3401568"/>
            <a:ext cx="3017520" cy="9692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Δt-scaled attention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(longer gap → weaker link)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280160" y="48006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sequence models assume </a:t>
            </a:r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2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spacing</a:t>
            </a:r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wrong for real follow-up.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encode the </a:t>
            </a:r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2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interval</a:t>
            </a:r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 3 months and 13 months are not treated alike. Borrowed from CRONOS / TaViT.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566928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1 · TIMEFM-3D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698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Representation to Decision — Verifier-Guided Reasoning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2C4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1 · TimeFM-3D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177272" y="6400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49808" y="1783080"/>
            <a:ext cx="10698480" cy="1508760"/>
          </a:xfrm>
          <a:prstGeom prst="roundRect">
            <a:avLst>
              <a:gd name="adj" fmla="val 4848"/>
            </a:avLst>
          </a:prstGeom>
          <a:solidFill>
            <a:srgbClr val="13283F"/>
          </a:solidFill>
          <a:ln w="12700">
            <a:solidFill>
              <a:srgbClr val="2C4A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201168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0116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SFT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971800" y="2148840"/>
            <a:ext cx="2377440" cy="822960"/>
          </a:xfrm>
          <a:prstGeom prst="roundRect">
            <a:avLst>
              <a:gd name="adj" fmla="val 7778"/>
            </a:avLst>
          </a:prstGeom>
          <a:solidFill>
            <a:srgbClr val="1E3D5C"/>
          </a:solidFill>
          <a:ln w="15875">
            <a:solidFill>
              <a:srgbClr val="4CC9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017520" y="2167128"/>
            <a:ext cx="2286000" cy="7863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reports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0" y="2560320"/>
            <a:ext cx="548640" cy="0"/>
          </a:xfrm>
          <a:prstGeom prst="line">
            <a:avLst/>
          </a:prstGeom>
          <a:noFill/>
          <a:ln w="24130">
            <a:solidFill>
              <a:srgbClr val="4CC9F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172200" y="2148840"/>
            <a:ext cx="2377440" cy="822960"/>
          </a:xfrm>
          <a:prstGeom prst="roundRect">
            <a:avLst>
              <a:gd name="adj" fmla="val 7778"/>
            </a:avLst>
          </a:prstGeom>
          <a:solidFill>
            <a:srgbClr val="1E3D5C"/>
          </a:solidFill>
          <a:ln w="15875">
            <a:solidFill>
              <a:srgbClr val="4CC9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2167128"/>
            <a:ext cx="2286000" cy="7863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CoT trace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686800" y="2560320"/>
            <a:ext cx="548640" cy="0"/>
          </a:xfrm>
          <a:prstGeom prst="line">
            <a:avLst/>
          </a:prstGeom>
          <a:noFill/>
          <a:ln w="24130">
            <a:solidFill>
              <a:srgbClr val="4CC9F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372600" y="2148840"/>
            <a:ext cx="1874520" cy="822960"/>
          </a:xfrm>
          <a:prstGeom prst="roundRect">
            <a:avLst>
              <a:gd name="adj" fmla="val 7778"/>
            </a:avLst>
          </a:prstGeom>
          <a:solidFill>
            <a:srgbClr val="16304A"/>
          </a:solidFill>
          <a:ln w="15875">
            <a:solidFill>
              <a:srgbClr val="4CC9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418320" y="2167128"/>
            <a:ext cx="1783080" cy="7863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&lt;thinking&gt;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&lt;answer&gt;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9808" y="3520440"/>
            <a:ext cx="10698480" cy="1783080"/>
          </a:xfrm>
          <a:prstGeom prst="roundRect">
            <a:avLst>
              <a:gd name="adj" fmla="val 4103"/>
            </a:avLst>
          </a:prstGeom>
          <a:solidFill>
            <a:srgbClr val="1E3D5C"/>
          </a:solidFill>
          <a:ln w="20320">
            <a:solidFill>
              <a:srgbClr val="FFB70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0120" y="374904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FFB703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374904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RL (GRPO)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971800" y="3931920"/>
            <a:ext cx="2011680" cy="914400"/>
          </a:xfrm>
          <a:prstGeom prst="roundRect">
            <a:avLst>
              <a:gd name="adj" fmla="val 7000"/>
            </a:avLst>
          </a:prstGeom>
          <a:solidFill>
            <a:srgbClr val="13283F"/>
          </a:solidFill>
          <a:ln w="15875">
            <a:solidFill>
              <a:srgbClr val="4CC9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017520" y="3950208"/>
            <a:ext cx="1920240" cy="8778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chains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120640" y="4389120"/>
            <a:ext cx="502920" cy="0"/>
          </a:xfrm>
          <a:prstGeom prst="line">
            <a:avLst/>
          </a:prstGeom>
          <a:noFill/>
          <a:ln w="24130">
            <a:solidFill>
              <a:srgbClr val="4CC9F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760720" y="3931920"/>
            <a:ext cx="2468880" cy="914400"/>
          </a:xfrm>
          <a:prstGeom prst="roundRect">
            <a:avLst>
              <a:gd name="adj" fmla="val 7000"/>
            </a:avLst>
          </a:prstGeom>
          <a:solidFill>
            <a:srgbClr val="13283F"/>
          </a:solidFill>
          <a:ln w="15875">
            <a:solidFill>
              <a:srgbClr val="FFB70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806440" y="3950208"/>
            <a:ext cx="2377440" cy="8778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verifier: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pathology · RECIST · mortality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366760" y="4389120"/>
            <a:ext cx="502920" cy="0"/>
          </a:xfrm>
          <a:prstGeom prst="line">
            <a:avLst/>
          </a:prstGeom>
          <a:noFill/>
          <a:ln w="24130">
            <a:solidFill>
              <a:srgbClr val="4CC9F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006840" y="3931920"/>
            <a:ext cx="2240280" cy="914400"/>
          </a:xfrm>
          <a:prstGeom prst="roundRect">
            <a:avLst>
              <a:gd name="adj" fmla="val 7000"/>
            </a:avLst>
          </a:prstGeom>
          <a:solidFill>
            <a:srgbClr val="13283F"/>
          </a:solidFill>
          <a:ln w="15875">
            <a:solidFill>
              <a:srgbClr val="4CC9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052560" y="3950208"/>
            <a:ext cx="2148840" cy="8778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policy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9808" y="5532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verifier is a </a:t>
            </a:r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clinical outcome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not a GPT-4 judge. This sidesteps the “reasoning-evaluation” quagmire and hits 2026 hiring keywords (reasoning · post-training · GRPO).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566928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1 · TIMEFM-3D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698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We Can Start With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2C4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1 · TimeFM-3D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177272" y="6400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33</a:t>
            </a:r>
            <a:endParaRPr lang="en-US" sz="9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1783080"/>
          <a:ext cx="1069848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651760"/>
                <a:gridCol w="1097280"/>
                <a:gridCol w="2743200"/>
                <a:gridCol w="173736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C9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C9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C9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C9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C9F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26,722 (LDCT arm)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chest LDCT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4–12 wk DUA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ADNI 1/2/3/4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~3,500+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2–10+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brain MRI + PET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OASIS-3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~1,378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brain MRI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AIBL / PPMI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~350 / ~400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3+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brain MRI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Yale-Brain-Mets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brain MRI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instant, no approval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CT-RATE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21,304 (~3–4k ≥2TP)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mostly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chest CT + reports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5C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49808" y="5806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starts on Yale-Brain-Mets </a:t>
            </a:r>
            <a:pPr indent="0" marL="0">
              <a:buNone/>
            </a:pPr>
            <a:r>
              <a:rPr lang="en-US" sz="12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instant download, zero approval, and it is brain imaging (hits the interest filter).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566928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1 · TIMEFM-3D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698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That Would Scale It Up — Pending Access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2C4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1 · TimeFM-3D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177272" y="6400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33</a:t>
            </a:r>
            <a:endParaRPr lang="en-US" sz="9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1783080"/>
          <a:ext cx="1069848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194560"/>
                <a:gridCol w="1188720"/>
                <a:gridCol w="429768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C9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C9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C9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C9F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4CC9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Mayo Clinic  (ours)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4CC9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4CC9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longitudinal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4CC9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 in progress — the moat / unique multimodal cohort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 Biobank repeat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~20k 2nd visit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DUA, 8–16 wk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NACC-SCAN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54k+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multi-center brain imaging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ABCD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~11,800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adolescent brain, IRB-controlled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 (Stanford)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19,438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mostly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CTPA + 5-yr EHR — evaluation gold-standard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ISPY1/2 · LUMIERE · UPenn-GBM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treatment-response evaluation cohorts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49808" y="5806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bottleneck:  </a:t>
            </a:r>
            <a:pPr indent="0" marL="0">
              <a:buNone/>
            </a:pPr>
            <a:r>
              <a:rPr lang="en-US" sz="12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constraint is data access and curation, not compute — 20×H200 is already in hand.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566928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1 · TIMEFM-3D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698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Preliminary Experiment &amp; Timeline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2C4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1 · TimeFM-3D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177272" y="6400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49808" y="1874520"/>
            <a:ext cx="1554480" cy="841248"/>
          </a:xfrm>
          <a:prstGeom prst="roundRect">
            <a:avLst>
              <a:gd name="adj" fmla="val 7609"/>
            </a:avLst>
          </a:prstGeom>
          <a:solidFill>
            <a:srgbClr val="FFB703"/>
          </a:solidFill>
          <a:ln w="15875">
            <a:solidFill>
              <a:srgbClr val="FFB70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874520"/>
            <a:ext cx="1554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M1–3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514600" y="1874520"/>
            <a:ext cx="8915400" cy="841248"/>
          </a:xfrm>
          <a:prstGeom prst="roundRect">
            <a:avLst>
              <a:gd name="adj" fmla="val 7609"/>
            </a:avLst>
          </a:prstGeom>
          <a:solidFill>
            <a:srgbClr val="13283F"/>
          </a:solidFill>
          <a:ln w="12700">
            <a:solidFill>
              <a:srgbClr val="2C4A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1874520"/>
            <a:ext cx="8503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+ curation; reproduce Sybil / TTE / Merlin baselines; 100M prototype on Yale-Brain-Mets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527048" y="2715768"/>
            <a:ext cx="0" cy="109728"/>
          </a:xfrm>
          <a:prstGeom prst="line">
            <a:avLst/>
          </a:prstGeom>
          <a:noFill/>
          <a:ln w="24130">
            <a:solidFill>
              <a:srgbClr val="4CC9F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49808" y="2843784"/>
            <a:ext cx="1554480" cy="841248"/>
          </a:xfrm>
          <a:prstGeom prst="roundRect">
            <a:avLst>
              <a:gd name="adj" fmla="val 7609"/>
            </a:avLst>
          </a:prstGeom>
          <a:solidFill>
            <a:srgbClr val="1E3D5C"/>
          </a:solidFill>
          <a:ln w="15875">
            <a:solidFill>
              <a:srgbClr val="4CC9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843784"/>
            <a:ext cx="1554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8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M4–6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514600" y="2843784"/>
            <a:ext cx="8915400" cy="841248"/>
          </a:xfrm>
          <a:prstGeom prst="roundRect">
            <a:avLst>
              <a:gd name="adj" fmla="val 7609"/>
            </a:avLst>
          </a:prstGeom>
          <a:solidFill>
            <a:srgbClr val="13283F"/>
          </a:solidFill>
          <a:ln w="12700">
            <a:solidFill>
              <a:srgbClr val="2C4A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0" y="2843784"/>
            <a:ext cx="8503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three-objective SSL (IA-MVM + NVP-LS + CMTC); scale up; ablations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527048" y="3685032"/>
            <a:ext cx="0" cy="109728"/>
          </a:xfrm>
          <a:prstGeom prst="line">
            <a:avLst/>
          </a:prstGeom>
          <a:noFill/>
          <a:ln w="24130">
            <a:solidFill>
              <a:srgbClr val="4CC9F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49808" y="3813048"/>
            <a:ext cx="1554480" cy="841248"/>
          </a:xfrm>
          <a:prstGeom prst="roundRect">
            <a:avLst>
              <a:gd name="adj" fmla="val 7609"/>
            </a:avLst>
          </a:prstGeom>
          <a:solidFill>
            <a:srgbClr val="1E3D5C"/>
          </a:solidFill>
          <a:ln w="15875">
            <a:solidFill>
              <a:srgbClr val="4CC9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3813048"/>
            <a:ext cx="1554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8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M7–9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514600" y="3813048"/>
            <a:ext cx="8915400" cy="841248"/>
          </a:xfrm>
          <a:prstGeom prst="roundRect">
            <a:avLst>
              <a:gd name="adj" fmla="val 7609"/>
            </a:avLst>
          </a:prstGeom>
          <a:solidFill>
            <a:srgbClr val="13283F"/>
          </a:solidFill>
          <a:ln w="12700">
            <a:solidFill>
              <a:srgbClr val="2C4A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0" y="3813048"/>
            <a:ext cx="8503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post-training: SFT chain-of-thought, then GRPO with outcome verifier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527048" y="4654296"/>
            <a:ext cx="0" cy="109728"/>
          </a:xfrm>
          <a:prstGeom prst="line">
            <a:avLst/>
          </a:prstGeom>
          <a:noFill/>
          <a:ln w="24130">
            <a:solidFill>
              <a:srgbClr val="4CC9F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49808" y="4782312"/>
            <a:ext cx="1554480" cy="841248"/>
          </a:xfrm>
          <a:prstGeom prst="roundRect">
            <a:avLst>
              <a:gd name="adj" fmla="val 7609"/>
            </a:avLst>
          </a:prstGeom>
          <a:solidFill>
            <a:srgbClr val="1E3D5C"/>
          </a:solidFill>
          <a:ln w="15875">
            <a:solidFill>
              <a:srgbClr val="4CC9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4782312"/>
            <a:ext cx="1554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8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M10–12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514600" y="4782312"/>
            <a:ext cx="8915400" cy="841248"/>
          </a:xfrm>
          <a:prstGeom prst="roundRect">
            <a:avLst>
              <a:gd name="adj" fmla="val 7609"/>
            </a:avLst>
          </a:prstGeom>
          <a:solidFill>
            <a:srgbClr val="13283F"/>
          </a:solidFill>
          <a:ln w="12700">
            <a:solidFill>
              <a:srgbClr val="2C4A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0" y="4782312"/>
            <a:ext cx="8503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Full-data pretraining; downstream evaluation; scaling study; write paper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49808" y="5705856"/>
            <a:ext cx="10698480" cy="512064"/>
          </a:xfrm>
          <a:prstGeom prst="roundRect">
            <a:avLst>
              <a:gd name="adj" fmla="val 12500"/>
            </a:avLst>
          </a:prstGeom>
          <a:solidFill>
            <a:srgbClr val="1E3D5C"/>
          </a:solidFill>
          <a:ln w="16510">
            <a:solidFill>
              <a:srgbClr val="FFB70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" y="5705856"/>
            <a:ext cx="10698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month:  </a:t>
            </a:r>
            <a:pPr algn="ctr" indent="0" marL="0">
              <a:buNone/>
            </a:pPr>
            <a:r>
              <a:rPr lang="en-US" sz="12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runnable TimeFM-3D prototype on 20×H200, W&amp;B-monitored.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566928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2 · MISSING-DATA VLLM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698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Direction 2 — When Modalities Are Missing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2C4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2 · Missing-data VLLM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177272" y="6400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33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49808" y="1783080"/>
            <a:ext cx="5486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advisor's </a:t>
            </a:r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3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direction</a:t>
            </a:r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VLLM that handles missing data.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clinical data is </a:t>
            </a:r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3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complete</a:t>
            </a:r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 PET ordered, an MRI sequence skipped, a report absent.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question: what does an FM </a:t>
            </a:r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350" b="1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when a modality is missing?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675120" y="1874520"/>
            <a:ext cx="2103120" cy="1005840"/>
          </a:xfrm>
          <a:prstGeom prst="roundRect">
            <a:avLst>
              <a:gd name="adj" fmla="val 6364"/>
            </a:avLst>
          </a:prstGeom>
          <a:solidFill>
            <a:srgbClr val="1E3D5C"/>
          </a:solidFill>
          <a:ln w="17780">
            <a:solidFill>
              <a:srgbClr val="4CC9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18745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8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052560" y="1874520"/>
            <a:ext cx="2103120" cy="1005840"/>
          </a:xfrm>
          <a:prstGeom prst="roundRect">
            <a:avLst>
              <a:gd name="adj" fmla="val 6364"/>
            </a:avLst>
          </a:prstGeom>
          <a:solidFill>
            <a:srgbClr val="1E3D5C"/>
          </a:solidFill>
          <a:ln w="17780">
            <a:solidFill>
              <a:srgbClr val="4CC9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52560" y="18745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8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MRI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675120" y="3108960"/>
            <a:ext cx="2103120" cy="1005840"/>
          </a:xfrm>
          <a:prstGeom prst="roundRect">
            <a:avLst>
              <a:gd name="adj" fmla="val 6364"/>
            </a:avLst>
          </a:prstGeom>
          <a:solidFill>
            <a:srgbClr val="13283F"/>
          </a:solidFill>
          <a:ln w="17780">
            <a:solidFill>
              <a:srgbClr val="F87171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6675120" y="31089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75120" y="37124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052560" y="3108960"/>
            <a:ext cx="2103120" cy="1005840"/>
          </a:xfrm>
          <a:prstGeom prst="roundRect">
            <a:avLst>
              <a:gd name="adj" fmla="val 6364"/>
            </a:avLst>
          </a:prstGeom>
          <a:solidFill>
            <a:srgbClr val="13283F"/>
          </a:solidFill>
          <a:ln w="17780">
            <a:solidFill>
              <a:srgbClr val="F87171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9052560" y="31089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052560" y="37124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823960" y="4389120"/>
            <a:ext cx="0" cy="365760"/>
          </a:xfrm>
          <a:prstGeom prst="line">
            <a:avLst/>
          </a:prstGeom>
          <a:noFill/>
          <a:ln w="24130">
            <a:solidFill>
              <a:srgbClr val="4CC9F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680960" y="4846320"/>
            <a:ext cx="2286000" cy="777240"/>
          </a:xfrm>
          <a:prstGeom prst="roundRect">
            <a:avLst>
              <a:gd name="adj" fmla="val 8235"/>
            </a:avLst>
          </a:prstGeom>
          <a:solidFill>
            <a:srgbClr val="16304A"/>
          </a:solidFill>
          <a:ln w="15875">
            <a:solidFill>
              <a:srgbClr val="4CC9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26680" y="4864608"/>
            <a:ext cx="2194560" cy="7406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12680" y="4800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3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566928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2 · MISSING-DATA VLLM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698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Survey — What Is Solved, What Is Open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2C4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2 · Missing-data VLLM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177272" y="6400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33</a:t>
            </a:r>
            <a:endParaRPr lang="en-US" sz="9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1783080"/>
          <a:ext cx="10698480" cy="914400"/>
        </p:xfrm>
        <a:graphic>
          <a:graphicData uri="http://schemas.openxmlformats.org/drawingml/2006/table">
            <a:tbl>
              <a:tblPr/>
              <a:tblGrid>
                <a:gridCol w="6766560"/>
                <a:gridCol w="393192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Sub-angle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C9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C9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landscape (masked modeling, missing-aware prompts)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92A8B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closed-set: largely solved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Uncertainty / calibration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taken — AECF (2025)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Cross-modal imputation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ocean — PSNR-chasing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MNAR / informative missingness / causal 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— the 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 / evaluation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MCAR assumption overstates robustness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Generative MLLM × missing data (medical)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half-empty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49808" y="585216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independent sub-surveys — five point to the same place:  </a:t>
            </a:r>
            <a:pPr indent="0" marL="0">
              <a:buNone/>
            </a:pPr>
            <a:r>
              <a:rPr lang="en-US" sz="12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non-random missingness.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566928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2 · MISSING-DATA VLLM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698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Missing Pattern Itself Carries Information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2C4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2 · Missing-data VLLM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177272" y="6400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49808" y="1874520"/>
            <a:ext cx="10698480" cy="1554480"/>
          </a:xfrm>
          <a:prstGeom prst="roundRect">
            <a:avLst>
              <a:gd name="adj" fmla="val 4706"/>
            </a:avLst>
          </a:prstGeom>
          <a:solidFill>
            <a:srgbClr val="13283F"/>
          </a:solidFill>
          <a:ln w="16510">
            <a:solidFill>
              <a:srgbClr val="F8717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210312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1031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MCAR VIEW — TODAY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0" y="2240280"/>
            <a:ext cx="2286000" cy="822960"/>
          </a:xfrm>
          <a:prstGeom prst="roundRect">
            <a:avLst>
              <a:gd name="adj" fmla="val 7778"/>
            </a:avLst>
          </a:prstGeom>
          <a:solidFill>
            <a:srgbClr val="16304A"/>
          </a:solidFill>
          <a:ln w="15875">
            <a:solidFill>
              <a:srgbClr val="4CC9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03320" y="2258568"/>
            <a:ext cx="2194560" cy="7863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modality missing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80760" y="2651760"/>
            <a:ext cx="548640" cy="0"/>
          </a:xfrm>
          <a:prstGeom prst="line">
            <a:avLst/>
          </a:prstGeom>
          <a:noFill/>
          <a:ln w="24130">
            <a:solidFill>
              <a:srgbClr val="4CC9F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766560" y="2240280"/>
            <a:ext cx="2103120" cy="822960"/>
          </a:xfrm>
          <a:prstGeom prst="roundRect">
            <a:avLst>
              <a:gd name="adj" fmla="val 7778"/>
            </a:avLst>
          </a:prstGeom>
          <a:solidFill>
            <a:srgbClr val="16304A"/>
          </a:solidFill>
          <a:ln w="15875">
            <a:solidFill>
              <a:srgbClr val="4CC9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12280" y="2258568"/>
            <a:ext cx="2011680" cy="7863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random noise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06840" y="2651760"/>
            <a:ext cx="548640" cy="0"/>
          </a:xfrm>
          <a:prstGeom prst="line">
            <a:avLst/>
          </a:prstGeom>
          <a:noFill/>
          <a:ln w="24130">
            <a:solidFill>
              <a:srgbClr val="4CC9F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692640" y="2240280"/>
            <a:ext cx="1554480" cy="822960"/>
          </a:xfrm>
          <a:prstGeom prst="roundRect">
            <a:avLst>
              <a:gd name="adj" fmla="val 7778"/>
            </a:avLst>
          </a:prstGeom>
          <a:solidFill>
            <a:srgbClr val="16304A"/>
          </a:solidFill>
          <a:ln w="15875">
            <a:solidFill>
              <a:srgbClr val="4CC9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738360" y="2258568"/>
            <a:ext cx="1463040" cy="7863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49808" y="3657600"/>
            <a:ext cx="10698480" cy="1554480"/>
          </a:xfrm>
          <a:prstGeom prst="roundRect">
            <a:avLst>
              <a:gd name="adj" fmla="val 4706"/>
            </a:avLst>
          </a:prstGeom>
          <a:solidFill>
            <a:srgbClr val="1E3D5C"/>
          </a:solidFill>
          <a:ln w="21590">
            <a:solidFill>
              <a:srgbClr val="4CC9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0120" y="38862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38862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MNAR VIEW — OPEN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0" y="4023360"/>
            <a:ext cx="2286000" cy="822960"/>
          </a:xfrm>
          <a:prstGeom prst="roundRect">
            <a:avLst>
              <a:gd name="adj" fmla="val 7778"/>
            </a:avLst>
          </a:prstGeom>
          <a:solidFill>
            <a:srgbClr val="13283F"/>
          </a:solidFill>
          <a:ln w="15875">
            <a:solidFill>
              <a:srgbClr val="4CC9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703320" y="4041648"/>
            <a:ext cx="2194560" cy="7863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modality missing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80760" y="4434840"/>
            <a:ext cx="548640" cy="0"/>
          </a:xfrm>
          <a:prstGeom prst="line">
            <a:avLst/>
          </a:prstGeom>
          <a:noFill/>
          <a:ln w="24130">
            <a:solidFill>
              <a:srgbClr val="4CC9F0"/>
            </a:solidFill>
            <a:prstDash val="solid"/>
            <a:headEnd type="triangle"/>
          </a:ln>
        </p:spPr>
      </p:sp>
      <p:sp>
        <p:nvSpPr>
          <p:cNvPr id="25" name="Shape 23"/>
          <p:cNvSpPr/>
          <p:nvPr/>
        </p:nvSpPr>
        <p:spPr>
          <a:xfrm>
            <a:off x="6766560" y="4023360"/>
            <a:ext cx="2468880" cy="822960"/>
          </a:xfrm>
          <a:prstGeom prst="roundRect">
            <a:avLst>
              <a:gd name="adj" fmla="val 7778"/>
            </a:avLst>
          </a:prstGeom>
          <a:solidFill>
            <a:srgbClr val="13283F"/>
          </a:solidFill>
          <a:ln w="15875">
            <a:solidFill>
              <a:srgbClr val="4CC9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812280" y="4041648"/>
            <a:ext cx="2377440" cy="7863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clinical decision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372600" y="4434840"/>
            <a:ext cx="457200" cy="0"/>
          </a:xfrm>
          <a:prstGeom prst="line">
            <a:avLst/>
          </a:prstGeom>
          <a:noFill/>
          <a:ln w="24130">
            <a:solidFill>
              <a:srgbClr val="4CC9F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921240" y="4023360"/>
            <a:ext cx="1325880" cy="822960"/>
          </a:xfrm>
          <a:prstGeom prst="roundRect">
            <a:avLst>
              <a:gd name="adj" fmla="val 7778"/>
            </a:avLst>
          </a:prstGeom>
          <a:solidFill>
            <a:srgbClr val="13283F"/>
          </a:solidFill>
          <a:ln w="15875">
            <a:solidFill>
              <a:srgbClr val="4CC9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966960" y="4041648"/>
            <a:ext cx="1234440" cy="7863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signal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49808" y="54864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PET ordered  →  </a:t>
            </a:r>
            <a:pPr algn="ctr" indent="0" marL="0">
              <a:buNone/>
            </a:pPr>
            <a:r>
              <a:rPr lang="en-US" sz="1250" b="1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physician already had low suspicion of metastasis.</a:t>
            </a:r>
            <a:pPr algn="ctr" indent="0" marL="0">
              <a:buNone/>
            </a:pPr>
            <a:r>
              <a:rPr lang="en-US" sz="125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absence is informative.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566928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2 · MISSING-DATA VLLM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698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Filling In Missing Modalities Can Inject Bias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2C4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2 · Missing-data VLLM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177272" y="6400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828800" y="2286000"/>
            <a:ext cx="1828800" cy="914400"/>
          </a:xfrm>
          <a:prstGeom prst="ellipse">
            <a:avLst/>
          </a:prstGeom>
          <a:solidFill>
            <a:srgbClr val="1E3D5C"/>
          </a:solidFill>
          <a:ln w="16510">
            <a:solidFill>
              <a:srgbClr val="4CC9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22860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120640" y="2286000"/>
            <a:ext cx="1828800" cy="914400"/>
          </a:xfrm>
          <a:prstGeom prst="ellipse">
            <a:avLst/>
          </a:prstGeom>
          <a:solidFill>
            <a:srgbClr val="1E3D5C"/>
          </a:solidFill>
          <a:ln w="20320">
            <a:solidFill>
              <a:srgbClr val="FFB70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22860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(collider)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12480" y="2286000"/>
            <a:ext cx="1828800" cy="914400"/>
          </a:xfrm>
          <a:prstGeom prst="ellipse">
            <a:avLst/>
          </a:prstGeom>
          <a:solidFill>
            <a:srgbClr val="1E3D5C"/>
          </a:solidFill>
          <a:ln w="16510">
            <a:solidFill>
              <a:srgbClr val="4CC9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22860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missingness 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03320" y="2743200"/>
            <a:ext cx="1371600" cy="0"/>
          </a:xfrm>
          <a:prstGeom prst="line">
            <a:avLst/>
          </a:prstGeom>
          <a:noFill/>
          <a:ln w="24130">
            <a:solidFill>
              <a:srgbClr val="4CC9F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995160" y="2743200"/>
            <a:ext cx="1371600" cy="0"/>
          </a:xfrm>
          <a:prstGeom prst="line">
            <a:avLst/>
          </a:prstGeom>
          <a:noFill/>
          <a:ln w="24130">
            <a:solidFill>
              <a:srgbClr val="4CC9F0"/>
            </a:solidFill>
            <a:prstDash val="solid"/>
            <a:headEnd type="triangle"/>
          </a:ln>
        </p:spPr>
      </p:sp>
      <p:sp>
        <p:nvSpPr>
          <p:cNvPr id="16" name="Text 14"/>
          <p:cNvSpPr/>
          <p:nvPr/>
        </p:nvSpPr>
        <p:spPr>
          <a:xfrm>
            <a:off x="1280160" y="3703320"/>
            <a:ext cx="9692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MNAR, naive imputation = 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2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conditioning on a collider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2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selection bias.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Hard-filling a tumor can 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2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fabricate diagnostic evidence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2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was never observed.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is not better imputation — it is 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2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the missingness mechanism</a:t>
            </a:r>
            <a:pPr indent="0" marL="0">
              <a:lnSpc>
                <a:spcPct val="105000"/>
              </a:lnSpc>
              <a:spcAft>
                <a:spcPts val="1100"/>
              </a:spcAft>
              <a:buNone/>
            </a:pPr>
            <a:r>
              <a:rPr lang="en-US" sz="12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itself.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566928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2 · MISSING-DATA VLLM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698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Honest Problem With This Direction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2C4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2 · Missing-data VLLM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177272" y="6400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937760" y="1783080"/>
            <a:ext cx="2331720" cy="822960"/>
          </a:xfrm>
          <a:prstGeom prst="roundRect">
            <a:avLst>
              <a:gd name="adj" fmla="val 7778"/>
            </a:avLst>
          </a:prstGeom>
          <a:solidFill>
            <a:srgbClr val="1E3D5C"/>
          </a:solidFill>
          <a:ln w="15875">
            <a:solidFill>
              <a:srgbClr val="4CC9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83480" y="1801368"/>
            <a:ext cx="2240280" cy="7863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with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0" y="2651760"/>
            <a:ext cx="-2011680" cy="822960"/>
          </a:xfrm>
          <a:prstGeom prst="line">
            <a:avLst/>
          </a:prstGeom>
          <a:noFill/>
          <a:ln w="21590">
            <a:solidFill>
              <a:srgbClr val="4CC9F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675120" y="2651760"/>
            <a:ext cx="2011680" cy="822960"/>
          </a:xfrm>
          <a:prstGeom prst="line">
            <a:avLst/>
          </a:prstGeom>
          <a:noFill/>
          <a:ln w="21590">
            <a:solidFill>
              <a:srgbClr val="4CC9F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097280" y="3611880"/>
            <a:ext cx="4663440" cy="2194560"/>
          </a:xfrm>
          <a:prstGeom prst="roundRect">
            <a:avLst>
              <a:gd name="adj" fmla="val 3333"/>
            </a:avLst>
          </a:prstGeom>
          <a:solidFill>
            <a:srgbClr val="13283F"/>
          </a:solidFill>
          <a:ln w="16510">
            <a:solidFill>
              <a:srgbClr val="F871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7947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VERSION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371600" y="4114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via random dropout.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71600" y="45262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Well-trodden red ocean — no novelty left.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371600" y="525780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600" y="52578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END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00800" y="3611880"/>
            <a:ext cx="4663440" cy="2194560"/>
          </a:xfrm>
          <a:prstGeom prst="roundRect">
            <a:avLst>
              <a:gd name="adj" fmla="val 3333"/>
            </a:avLst>
          </a:prstGeom>
          <a:solidFill>
            <a:srgbClr val="1E3D5C"/>
          </a:solidFill>
          <a:ln w="20320">
            <a:solidFill>
              <a:srgbClr val="FFB70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37947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VERSION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675120" y="4114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MNAR · m-graph · collider-aware fusion.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75120" y="45262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white space — but it requires causal theory.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75120" y="5257800"/>
            <a:ext cx="3840480" cy="310896"/>
          </a:xfrm>
          <a:prstGeom prst="roundRect">
            <a:avLst>
              <a:gd name="adj" fmla="val 50000"/>
            </a:avLst>
          </a:prstGeom>
          <a:solidFill>
            <a:srgbClr val="FFB703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525780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 WITH “NO CAUSAL THEORY”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49808" y="59893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tension is unresolved — it needs the advisor's input, not more brainstorming.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566928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2 · MISSING-DATA VLLM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698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Direction 2 Stands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2C4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2 · Missing-data VLLM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177272" y="6400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33</a:t>
            </a:r>
            <a:endParaRPr lang="en-US" sz="9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1783080"/>
          <a:ext cx="106984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5120640"/>
                <a:gridCol w="1645920"/>
                <a:gridCol w="2194560"/>
              </a:tblGrid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C9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C9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C9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C9F0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Missing-aware text prompt fed to an existing medical VLM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 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novelty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Realistic-missingness benchmark (ADNI / TCGA natural missingness)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3–4 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High-ceiling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informative-missingness VLLM (needs causal)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8–12 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conflicts with “no causal”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5C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49808" y="4892040"/>
            <a:ext cx="10698480" cy="960120"/>
          </a:xfrm>
          <a:prstGeom prst="roundRect">
            <a:avLst>
              <a:gd name="adj" fmla="val 7619"/>
            </a:avLst>
          </a:prstGeom>
          <a:solidFill>
            <a:srgbClr val="1E3D5C"/>
          </a:solidFill>
          <a:ln w="17780">
            <a:solidFill>
              <a:srgbClr val="FFB70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9808" y="4892040"/>
            <a:ext cx="91440" cy="96012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11" name="Text 8"/>
          <p:cNvSpPr/>
          <p:nvPr/>
        </p:nvSpPr>
        <p:spPr>
          <a:xfrm>
            <a:off x="1097280" y="4892040"/>
            <a:ext cx="10058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 </a:t>
            </a:r>
            <a:pPr indent="0" marL="0">
              <a:buNone/>
            </a:pPr>
            <a:r>
              <a:rPr lang="en-US" sz="1350" b="1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hold — pending the advisor — </a:t>
            </a:r>
            <a:pPr indent="0" marL="0">
              <a:buNone/>
            </a:pPr>
            <a:r>
              <a:rPr lang="en-US" sz="135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version of “missing data” did he mean?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566928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3 · DIFFUSION-AS-FM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698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Direction 3 — Can a Generative Model Be the Backbone?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2C4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3 · Diffusion-as-FM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177272" y="6400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49808" y="1920240"/>
            <a:ext cx="10698480" cy="1417320"/>
          </a:xfrm>
          <a:prstGeom prst="roundRect">
            <a:avLst>
              <a:gd name="adj" fmla="val 5161"/>
            </a:avLst>
          </a:prstGeom>
          <a:solidFill>
            <a:srgbClr val="13283F"/>
          </a:solidFill>
          <a:ln w="12700">
            <a:solidFill>
              <a:srgbClr val="2C4A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AS A GENERATOR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2331720"/>
            <a:ext cx="1645920" cy="777240"/>
          </a:xfrm>
          <a:prstGeom prst="roundRect">
            <a:avLst>
              <a:gd name="adj" fmla="val 8235"/>
            </a:avLst>
          </a:prstGeom>
          <a:solidFill>
            <a:srgbClr val="16304A"/>
          </a:solidFill>
          <a:ln w="15875">
            <a:solidFill>
              <a:srgbClr val="4CC9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2350008"/>
            <a:ext cx="1554480" cy="7406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55080" y="2715768"/>
            <a:ext cx="640080" cy="0"/>
          </a:xfrm>
          <a:prstGeom prst="line">
            <a:avLst/>
          </a:prstGeom>
          <a:noFill/>
          <a:ln w="24130">
            <a:solidFill>
              <a:srgbClr val="4CC9F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132320" y="2331720"/>
            <a:ext cx="2194560" cy="777240"/>
          </a:xfrm>
          <a:prstGeom prst="roundRect">
            <a:avLst>
              <a:gd name="adj" fmla="val 8235"/>
            </a:avLst>
          </a:prstGeom>
          <a:solidFill>
            <a:srgbClr val="16304A"/>
          </a:solidFill>
          <a:ln w="15875">
            <a:solidFill>
              <a:srgbClr val="4CC9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178040" y="2350008"/>
            <a:ext cx="2103120" cy="7406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model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464040" y="2715768"/>
            <a:ext cx="640080" cy="0"/>
          </a:xfrm>
          <a:prstGeom prst="line">
            <a:avLst/>
          </a:prstGeom>
          <a:noFill/>
          <a:ln w="24130">
            <a:solidFill>
              <a:srgbClr val="4CC9F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0241280" y="2331720"/>
            <a:ext cx="960120" cy="777240"/>
          </a:xfrm>
          <a:prstGeom prst="roundRect">
            <a:avLst>
              <a:gd name="adj" fmla="val 8235"/>
            </a:avLst>
          </a:prstGeom>
          <a:solidFill>
            <a:srgbClr val="16304A"/>
          </a:solidFill>
          <a:ln w="15875">
            <a:solidFill>
              <a:srgbClr val="4CC9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287000" y="2350008"/>
            <a:ext cx="868680" cy="7406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49808" y="3611880"/>
            <a:ext cx="10698480" cy="1691640"/>
          </a:xfrm>
          <a:prstGeom prst="roundRect">
            <a:avLst>
              <a:gd name="adj" fmla="val 4324"/>
            </a:avLst>
          </a:prstGeom>
          <a:solidFill>
            <a:srgbClr val="1E3D5C"/>
          </a:solidFill>
          <a:ln w="20320">
            <a:solidFill>
              <a:srgbClr val="FFB70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37947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AS A REPRESENTATION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0" y="4160520"/>
            <a:ext cx="1645920" cy="868680"/>
          </a:xfrm>
          <a:prstGeom prst="roundRect">
            <a:avLst>
              <a:gd name="adj" fmla="val 7368"/>
            </a:avLst>
          </a:prstGeom>
          <a:solidFill>
            <a:srgbClr val="13283F"/>
          </a:solidFill>
          <a:ln w="15875">
            <a:solidFill>
              <a:srgbClr val="4CC9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788920" y="4178808"/>
            <a:ext cx="1554480" cy="8321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26280" y="4590288"/>
            <a:ext cx="548640" cy="0"/>
          </a:xfrm>
          <a:prstGeom prst="line">
            <a:avLst/>
          </a:prstGeom>
          <a:noFill/>
          <a:ln w="24130">
            <a:solidFill>
              <a:srgbClr val="4CC9F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166360" y="4160520"/>
            <a:ext cx="2560320" cy="868680"/>
          </a:xfrm>
          <a:prstGeom prst="roundRect">
            <a:avLst>
              <a:gd name="adj" fmla="val 7368"/>
            </a:avLst>
          </a:prstGeom>
          <a:solidFill>
            <a:srgbClr val="13283F"/>
          </a:solidFill>
          <a:ln w="15875">
            <a:solidFill>
              <a:srgbClr val="4CC9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212080" y="4178808"/>
            <a:ext cx="2468880" cy="8321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diffusion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features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863840" y="4590288"/>
            <a:ext cx="548640" cy="0"/>
          </a:xfrm>
          <a:prstGeom prst="line">
            <a:avLst/>
          </a:prstGeom>
          <a:noFill/>
          <a:ln w="24130">
            <a:solidFill>
              <a:srgbClr val="4CC9F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503920" y="4160520"/>
            <a:ext cx="2651760" cy="868680"/>
          </a:xfrm>
          <a:prstGeom prst="roundRect">
            <a:avLst>
              <a:gd name="adj" fmla="val 7368"/>
            </a:avLst>
          </a:prstGeom>
          <a:solidFill>
            <a:srgbClr val="13283F"/>
          </a:solidFill>
          <a:ln w="15875">
            <a:solidFill>
              <a:srgbClr val="4CC9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549640" y="4178808"/>
            <a:ext cx="2560320" cy="8321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head: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/ detect / retrieve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49808" y="56235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Mainstream FMs use contrastive / MAE objectives. A different route: reuse a trained generative model's features for perception.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566928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3 · DIFFUSION-AS-FM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698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Marigold — Repurposing Diffusion Features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2C4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3 · Diffusion-as-FM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177272" y="6400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33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49808" y="1828800"/>
            <a:ext cx="5669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Marigold </a:t>
            </a:r>
            <a:pPr indent="0" marL="0">
              <a:lnSpc>
                <a:spcPct val="105000"/>
              </a:lnSpc>
              <a:spcAft>
                <a:spcPts val="1300"/>
              </a:spcAft>
              <a:buNone/>
            </a:pPr>
            <a:r>
              <a:rPr lang="en-US" sz="13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(CVPR 2024) took a diffusion model pretrained on natural images.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Frozen, plus a light head, it does </a:t>
            </a:r>
            <a:pPr indent="0" marL="0">
              <a:lnSpc>
                <a:spcPct val="105000"/>
              </a:lnSpc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prediction</a:t>
            </a:r>
            <a:pPr indent="0" marL="0">
              <a:lnSpc>
                <a:spcPct val="105000"/>
              </a:lnSpc>
              <a:spcAft>
                <a:spcPts val="1300"/>
              </a:spcAft>
              <a:buNone/>
            </a:pPr>
            <a:r>
              <a:rPr lang="en-US" sz="13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(e.g. depth) — beating specialized models.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lesson: a </a:t>
            </a:r>
            <a:pPr indent="0" marL="0">
              <a:lnSpc>
                <a:spcPct val="105000"/>
              </a:lnSpc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prior</a:t>
            </a:r>
            <a:pPr indent="0" marL="0">
              <a:lnSpc>
                <a:spcPct val="105000"/>
              </a:lnSpc>
              <a:spcAft>
                <a:spcPts val="1300"/>
              </a:spcAft>
              <a:buNone/>
            </a:pPr>
            <a:r>
              <a:rPr lang="en-US" sz="13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also a strong perception backbone.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question: does this </a:t>
            </a:r>
            <a:pPr indent="0" marL="0">
              <a:lnSpc>
                <a:spcPct val="105000"/>
              </a:lnSpc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to medical 3D</a:t>
            </a:r>
            <a:pPr indent="0" marL="0">
              <a:lnSpc>
                <a:spcPct val="105000"/>
              </a:lnSpc>
              <a:spcAft>
                <a:spcPts val="1300"/>
              </a:spcAft>
              <a:buNone/>
            </a:pPr>
            <a:r>
              <a:rPr lang="en-US" sz="13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635240" y="1828800"/>
            <a:ext cx="3383280" cy="676656"/>
          </a:xfrm>
          <a:prstGeom prst="roundRect">
            <a:avLst>
              <a:gd name="adj" fmla="val 9459"/>
            </a:avLst>
          </a:prstGeom>
          <a:solidFill>
            <a:srgbClr val="1E3D5C"/>
          </a:solidFill>
          <a:ln w="15875">
            <a:solidFill>
              <a:srgbClr val="FFB70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680960" y="1847088"/>
            <a:ext cx="329184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diffusion U-Net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326880" y="2505456"/>
            <a:ext cx="0" cy="237744"/>
          </a:xfrm>
          <a:prstGeom prst="line">
            <a:avLst/>
          </a:prstGeom>
          <a:noFill/>
          <a:ln w="24130">
            <a:solidFill>
              <a:srgbClr val="4CC9F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635240" y="2743200"/>
            <a:ext cx="3383280" cy="676656"/>
          </a:xfrm>
          <a:prstGeom prst="roundRect">
            <a:avLst>
              <a:gd name="adj" fmla="val 9459"/>
            </a:avLst>
          </a:prstGeom>
          <a:solidFill>
            <a:srgbClr val="13283F"/>
          </a:solidFill>
          <a:ln w="15875">
            <a:solidFill>
              <a:srgbClr val="2C4A6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680960" y="2761488"/>
            <a:ext cx="329184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multi-scale features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326880" y="3419856"/>
            <a:ext cx="0" cy="237744"/>
          </a:xfrm>
          <a:prstGeom prst="line">
            <a:avLst/>
          </a:prstGeom>
          <a:noFill/>
          <a:ln w="24130">
            <a:solidFill>
              <a:srgbClr val="4CC9F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635240" y="3657600"/>
            <a:ext cx="3383280" cy="676656"/>
          </a:xfrm>
          <a:prstGeom prst="roundRect">
            <a:avLst>
              <a:gd name="adj" fmla="val 9459"/>
            </a:avLst>
          </a:prstGeom>
          <a:solidFill>
            <a:srgbClr val="13283F"/>
          </a:solidFill>
          <a:ln w="15875">
            <a:solidFill>
              <a:srgbClr val="2C4A6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680960" y="3675888"/>
            <a:ext cx="329184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task head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326880" y="4334256"/>
            <a:ext cx="0" cy="237744"/>
          </a:xfrm>
          <a:prstGeom prst="line">
            <a:avLst/>
          </a:prstGeom>
          <a:noFill/>
          <a:ln w="24130">
            <a:solidFill>
              <a:srgbClr val="4CC9F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635240" y="4572000"/>
            <a:ext cx="3383280" cy="676656"/>
          </a:xfrm>
          <a:prstGeom prst="roundRect">
            <a:avLst>
              <a:gd name="adj" fmla="val 9459"/>
            </a:avLst>
          </a:prstGeom>
          <a:solidFill>
            <a:srgbClr val="13283F"/>
          </a:solidFill>
          <a:ln w="15875">
            <a:solidFill>
              <a:srgbClr val="2C4A6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680960" y="4590288"/>
            <a:ext cx="329184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/ segmentation / correspondence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635240" y="55229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task-specific pretraining needed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566928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3 · DIFFUSION-AS-FM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698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Half-Empty, Not Empty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2C4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3 · Diffusion-as-FM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177272" y="6400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49808" y="1828800"/>
            <a:ext cx="6766560" cy="2286000"/>
          </a:xfrm>
          <a:prstGeom prst="roundRect">
            <a:avLst>
              <a:gd name="adj" fmla="val 3200"/>
            </a:avLst>
          </a:prstGeom>
          <a:solidFill>
            <a:srgbClr val="1E3D5C"/>
          </a:solidFill>
          <a:ln w="1778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0574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OCCUPIED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423160"/>
            <a:ext cx="6309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et al. (arXiv 2501.19265, Jan 2025)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3D medical diffusion → 3D CT organ segmentation.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Adjacent: DiffuGTS (CVPR 2025), LDAE.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680960" y="1828800"/>
            <a:ext cx="3767328" cy="2286000"/>
          </a:xfrm>
          <a:prstGeom prst="roundRect">
            <a:avLst>
              <a:gd name="adj" fmla="val 3200"/>
            </a:avLst>
          </a:prstGeom>
          <a:solidFill>
            <a:srgbClr val="13283F"/>
          </a:solidFill>
          <a:ln w="17780">
            <a:solidFill>
              <a:srgbClr val="4CC9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0" y="2057400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OPEN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909560" y="242316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head-to-head vs DINOv2 / MAE, across classification + retrieval, on CT and MRI.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49808" y="4480560"/>
            <a:ext cx="1069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paradigm — frozen 3D medical diffusion as a backbone — </a:t>
            </a:r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2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already taken</a:t>
            </a:r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left is a </a:t>
            </a:r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2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differentiating empirical study</a:t>
            </a:r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a new paradigm.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566928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3 · DIFFUSION-AS-FM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698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Direction 3 Stands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2C4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3 · Diffusion-as-FM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177272" y="6400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49808" y="1828800"/>
            <a:ext cx="10698480" cy="1371600"/>
          </a:xfrm>
          <a:prstGeom prst="roundRect">
            <a:avLst>
              <a:gd name="adj" fmla="val 5333"/>
            </a:avLst>
          </a:prstGeom>
          <a:solidFill>
            <a:srgbClr val="1E3D5C"/>
          </a:solidFill>
          <a:ln w="17780">
            <a:solidFill>
              <a:srgbClr val="FFB70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Downgraded.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new paradigm — a MICCAI-scale empirical study differentiating from 2501.19265. Modest as a standalone flagship.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463040" y="3931920"/>
            <a:ext cx="2560320" cy="1005840"/>
          </a:xfrm>
          <a:prstGeom prst="roundRect">
            <a:avLst>
              <a:gd name="adj" fmla="val 6364"/>
            </a:avLst>
          </a:prstGeom>
          <a:solidFill>
            <a:srgbClr val="13283F"/>
          </a:solidFill>
          <a:ln w="15875">
            <a:solidFill>
              <a:srgbClr val="4CC9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508760" y="3950208"/>
            <a:ext cx="2468880" cy="96926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Diffusion-as-FM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0" y="4434840"/>
            <a:ext cx="1280160" cy="0"/>
          </a:xfrm>
          <a:prstGeom prst="line">
            <a:avLst/>
          </a:prstGeom>
          <a:noFill/>
          <a:ln w="24130">
            <a:solidFill>
              <a:srgbClr val="4CC9F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577840" y="3657600"/>
            <a:ext cx="3017520" cy="1554480"/>
          </a:xfrm>
          <a:prstGeom prst="roundRect">
            <a:avLst>
              <a:gd name="adj" fmla="val 4118"/>
            </a:avLst>
          </a:prstGeom>
          <a:solidFill>
            <a:srgbClr val="1E3D5C"/>
          </a:solidFill>
          <a:ln w="15875">
            <a:solidFill>
              <a:srgbClr val="FFB70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23560" y="3675888"/>
            <a:ext cx="2926080" cy="15179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TimeFM-3D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023360" y="4069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778240" y="3657600"/>
            <a:ext cx="2743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role: an evaluation probe / benchmarking component for the main line — not a separate project.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566928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4 · CAUSAL VLLM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698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Direction 4 — Causal / Counterfactual VLLM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2C4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4 · Causal VLLM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177272" y="6400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33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49808" y="178308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advisor's </a:t>
            </a:r>
            <a:pPr indent="0" marL="0">
              <a:lnSpc>
                <a:spcPct val="105000"/>
              </a:lnSpc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direction</a:t>
            </a:r>
            <a:pPr indent="0" marL="0">
              <a:lnSpc>
                <a:spcPct val="105000"/>
              </a:lnSpc>
              <a:spcAft>
                <a:spcPts val="1300"/>
              </a:spcAft>
              <a:buNone/>
            </a:pPr>
            <a:r>
              <a:rPr lang="en-US" sz="13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a </a:t>
            </a:r>
            <a:pPr indent="0" marL="0">
              <a:lnSpc>
                <a:spcPct val="105000"/>
              </a:lnSpc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</a:t>
            </a:r>
            <a:pPr indent="0" marL="0">
              <a:lnSpc>
                <a:spcPct val="105000"/>
              </a:lnSpc>
              <a:spcAft>
                <a:spcPts val="1300"/>
              </a:spcAft>
              <a:buNone/>
            </a:pPr>
            <a:r>
              <a:rPr lang="en-US" sz="13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what would the imaging look like under a different treatment?</a:t>
            </a:r>
            <a:endParaRPr lang="en-US" sz="1300" dirty="0"/>
          </a:p>
          <a:p>
            <a:pPr marL="177800" indent="-177800">
              <a:lnSpc>
                <a:spcPct val="10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Mayo's longitudinal cohort well in principle.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766560" y="2743200"/>
            <a:ext cx="1920240" cy="868680"/>
          </a:xfrm>
          <a:prstGeom prst="roundRect">
            <a:avLst>
              <a:gd name="adj" fmla="val 7368"/>
            </a:avLst>
          </a:prstGeom>
          <a:solidFill>
            <a:srgbClr val="1E3D5C"/>
          </a:solidFill>
          <a:ln w="15875">
            <a:solidFill>
              <a:srgbClr val="4CC9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12280" y="2761488"/>
            <a:ext cx="1828800" cy="8321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scan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732520" y="3017520"/>
            <a:ext cx="914400" cy="-777240"/>
          </a:xfrm>
          <a:prstGeom prst="line">
            <a:avLst/>
          </a:prstGeom>
          <a:noFill/>
          <a:ln w="21590">
            <a:solidFill>
              <a:srgbClr val="4CC9F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732520" y="3383280"/>
            <a:ext cx="914400" cy="777240"/>
          </a:xfrm>
          <a:prstGeom prst="line">
            <a:avLst/>
          </a:prstGeom>
          <a:noFill/>
          <a:ln w="21590">
            <a:solidFill>
              <a:srgbClr val="4CC9F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738360" y="1965960"/>
            <a:ext cx="1828800" cy="868680"/>
          </a:xfrm>
          <a:prstGeom prst="roundRect">
            <a:avLst>
              <a:gd name="adj" fmla="val 7368"/>
            </a:avLst>
          </a:prstGeom>
          <a:solidFill>
            <a:srgbClr val="13283F"/>
          </a:solidFill>
          <a:ln w="15875">
            <a:solidFill>
              <a:srgbClr val="4CC9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784080" y="1984248"/>
            <a:ext cx="1737360" cy="8321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observed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738360" y="3611880"/>
            <a:ext cx="1828800" cy="868680"/>
          </a:xfrm>
          <a:prstGeom prst="roundRect">
            <a:avLst>
              <a:gd name="adj" fmla="val 7368"/>
            </a:avLst>
          </a:prstGeom>
          <a:solidFill>
            <a:srgbClr val="13283F"/>
          </a:solidFill>
          <a:ln w="15875">
            <a:solidFill>
              <a:srgbClr val="FFB70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784080" y="3630168"/>
            <a:ext cx="1737360" cy="8321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B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counterfactual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766560" y="470916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vs never-observed outcome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566928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4 · CAUSAL VLLM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698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Honest Assessment of Direction 4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2C4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4 · Causal VLLM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177272" y="6400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49808" y="1920240"/>
            <a:ext cx="10698480" cy="1280160"/>
          </a:xfrm>
          <a:prstGeom prst="roundRect">
            <a:avLst>
              <a:gd name="adj" fmla="val 5714"/>
            </a:avLst>
          </a:prstGeom>
          <a:solidFill>
            <a:srgbClr val="1E3D5C"/>
          </a:solidFill>
          <a:ln w="17780">
            <a:solidFill>
              <a:srgbClr val="FFB70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20240"/>
            <a:ext cx="10149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Shelved.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inference has a high theory barrier — confounding, identifiability, semi-parametric efficiency. Not our current strength.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3611880"/>
            <a:ext cx="10058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upfront: </a:t>
            </a:r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familiar with causal theory</a:t>
            </a:r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will not build on it as a foundation.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could merge with Direction 2's m-graph — but that only </a:t>
            </a:r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drags missing-data back into causal inference</a:t>
            </a:r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Revisitable later; </a:t>
            </a:r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2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starting point</a:t>
            </a:r>
            <a:pPr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566928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698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Directions — Side by Side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2C4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177272" y="6400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33</a:t>
            </a:r>
            <a:endParaRPr lang="en-US" sz="95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1783080"/>
          <a:ext cx="10698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468880"/>
                <a:gridCol w="5486400"/>
              </a:tblGrid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C9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C9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C9F0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6D3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TimeFM-3D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6D3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line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6D3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white space; fits brain + multimodal; can start now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5C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Missing-data VLLM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hold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novel version needs causal theory — a conflict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Diffusion-as-FM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downgraded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already occupied; good only as an evaluation probe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Causal VLLM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shelved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4F8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theory barrier; not our current strength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49808" y="585216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6D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second direction on par with TimeFM-3D.  </a:t>
            </a:r>
            <a:pPr indent="0" marL="0">
              <a:buNone/>
            </a:pPr>
            <a:r>
              <a:rPr lang="en-US" sz="12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genuine bottom line of 40+ surveyed directions.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566928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698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Things I Need to Confirm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2C4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177272" y="6400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33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49808" y="1755648"/>
            <a:ext cx="10698480" cy="1188720"/>
          </a:xfrm>
          <a:prstGeom prst="roundRect">
            <a:avLst>
              <a:gd name="adj" fmla="val 6154"/>
            </a:avLst>
          </a:prstGeom>
          <a:solidFill>
            <a:srgbClr val="1E3D5C"/>
          </a:solidFill>
          <a:ln w="16510">
            <a:solidFill>
              <a:srgbClr val="4CC9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057400"/>
            <a:ext cx="585216" cy="585216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0574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874520" y="1911096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F8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actually in Liu's project?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874520" y="2350008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“building on it” hold up — or is it effectively from scratch?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49808" y="3090672"/>
            <a:ext cx="10698480" cy="1188720"/>
          </a:xfrm>
          <a:prstGeom prst="roundRect">
            <a:avLst>
              <a:gd name="adj" fmla="val 6154"/>
            </a:avLst>
          </a:prstGeom>
          <a:solidFill>
            <a:srgbClr val="1E3D5C"/>
          </a:solidFill>
          <a:ln w="16510">
            <a:solidFill>
              <a:srgbClr val="4CC9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3392424"/>
            <a:ext cx="585216" cy="585216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39242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874520" y="324612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F8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“missing data” did you mean?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874520" y="3685032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robustness has no novelty; the informative-missingness version needs causal theory.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49808" y="4425696"/>
            <a:ext cx="10698480" cy="1188720"/>
          </a:xfrm>
          <a:prstGeom prst="roundRect">
            <a:avLst>
              <a:gd name="adj" fmla="val 6154"/>
            </a:avLst>
          </a:prstGeom>
          <a:solidFill>
            <a:srgbClr val="1E3D5C"/>
          </a:solidFill>
          <a:ln w="16510">
            <a:solidFill>
              <a:srgbClr val="4CC9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" y="4727448"/>
            <a:ext cx="585216" cy="585216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47274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1874520" y="4581144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F8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 “dynamic” exactly TimeFM-3D?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874520" y="502005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yes — I start building immediately.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49808" y="5870448"/>
            <a:ext cx="10698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answers are worth more than another round of brainstorming.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82296" cy="566928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49808" y="640080"/>
            <a:ext cx="10698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 Will Do Next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9525">
            <a:solidFill>
              <a:srgbClr val="2C4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177272" y="6400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2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33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49808" y="1874520"/>
            <a:ext cx="10698480" cy="749808"/>
          </a:xfrm>
          <a:prstGeom prst="roundRect">
            <a:avLst>
              <a:gd name="adj" fmla="val 8537"/>
            </a:avLst>
          </a:prstGeom>
          <a:solidFill>
            <a:srgbClr val="13283F"/>
          </a:solidFill>
          <a:ln w="12700">
            <a:solidFill>
              <a:srgbClr val="2C4A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874520"/>
            <a:ext cx="91440" cy="749808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10" name="Shape 8"/>
          <p:cNvSpPr/>
          <p:nvPr/>
        </p:nvSpPr>
        <p:spPr>
          <a:xfrm>
            <a:off x="1051560" y="2020824"/>
            <a:ext cx="457200" cy="457200"/>
          </a:xfrm>
          <a:prstGeom prst="ellipse">
            <a:avLst/>
          </a:prstGeom>
          <a:solidFill>
            <a:srgbClr val="1E3D5C"/>
          </a:solidFill>
          <a:ln w="15875">
            <a:solidFill>
              <a:srgbClr val="4CC9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020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C9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83080" y="1874520"/>
            <a:ext cx="9418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Mayo DUA; download Yale-Brain-Mets and CT-RATE.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49808" y="2752344"/>
            <a:ext cx="10698480" cy="749808"/>
          </a:xfrm>
          <a:prstGeom prst="roundRect">
            <a:avLst>
              <a:gd name="adj" fmla="val 8537"/>
            </a:avLst>
          </a:prstGeom>
          <a:solidFill>
            <a:srgbClr val="13283F"/>
          </a:solidFill>
          <a:ln w="12700">
            <a:solidFill>
              <a:srgbClr val="2C4A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" y="2752344"/>
            <a:ext cx="91440" cy="749808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1560" y="2898648"/>
            <a:ext cx="457200" cy="457200"/>
          </a:xfrm>
          <a:prstGeom prst="ellipse">
            <a:avLst/>
          </a:prstGeom>
          <a:solidFill>
            <a:srgbClr val="1E3D5C"/>
          </a:solidFill>
          <a:ln w="15875">
            <a:solidFill>
              <a:srgbClr val="4CC9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898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C9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783080" y="2752344"/>
            <a:ext cx="9418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TimeFM-3D prototype within two weeks (IA-MVM + NVP-LS + CMTC) on 20×H200.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49808" y="3630168"/>
            <a:ext cx="10698480" cy="749808"/>
          </a:xfrm>
          <a:prstGeom prst="roundRect">
            <a:avLst>
              <a:gd name="adj" fmla="val 8537"/>
            </a:avLst>
          </a:prstGeom>
          <a:solidFill>
            <a:srgbClr val="13283F"/>
          </a:solidFill>
          <a:ln w="12700">
            <a:solidFill>
              <a:srgbClr val="2C4A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3630168"/>
            <a:ext cx="91440" cy="749808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20" name="Shape 18"/>
          <p:cNvSpPr/>
          <p:nvPr/>
        </p:nvSpPr>
        <p:spPr>
          <a:xfrm>
            <a:off x="1051560" y="3776472"/>
            <a:ext cx="457200" cy="457200"/>
          </a:xfrm>
          <a:prstGeom prst="ellipse">
            <a:avLst/>
          </a:prstGeom>
          <a:solidFill>
            <a:srgbClr val="1E3D5C"/>
          </a:solidFill>
          <a:ln w="15875">
            <a:solidFill>
              <a:srgbClr val="4CC9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3776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C9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783080" y="3630168"/>
            <a:ext cx="9418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the Sybil / TTE / Merlin baselines.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49808" y="4507992"/>
            <a:ext cx="10698480" cy="749808"/>
          </a:xfrm>
          <a:prstGeom prst="roundRect">
            <a:avLst>
              <a:gd name="adj" fmla="val 8537"/>
            </a:avLst>
          </a:prstGeom>
          <a:solidFill>
            <a:srgbClr val="13283F"/>
          </a:solidFill>
          <a:ln w="12700">
            <a:solidFill>
              <a:srgbClr val="2C4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" y="4507992"/>
            <a:ext cx="91440" cy="749808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25" name="Shape 23"/>
          <p:cNvSpPr/>
          <p:nvPr/>
        </p:nvSpPr>
        <p:spPr>
          <a:xfrm>
            <a:off x="1051560" y="4654296"/>
            <a:ext cx="457200" cy="457200"/>
          </a:xfrm>
          <a:prstGeom prst="ellipse">
            <a:avLst/>
          </a:prstGeom>
          <a:solidFill>
            <a:srgbClr val="1E3D5C"/>
          </a:solidFill>
          <a:ln w="15875">
            <a:solidFill>
              <a:srgbClr val="4CC9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1560" y="4654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C9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783080" y="4507992"/>
            <a:ext cx="9418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the missing-data scope once the advisor answers the three questions.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49808" y="5458968"/>
            <a:ext cx="10698480" cy="658368"/>
          </a:xfrm>
          <a:prstGeom prst="roundRect">
            <a:avLst>
              <a:gd name="adj" fmla="val 11111"/>
            </a:avLst>
          </a:prstGeom>
          <a:solidFill>
            <a:srgbClr val="1E3D5C"/>
          </a:solidFill>
          <a:ln w="17780">
            <a:solidFill>
              <a:srgbClr val="FFB70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5458968"/>
            <a:ext cx="10698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direction has converged.  </a:t>
            </a:r>
            <a:pPr algn="ctr" indent="0" marL="0">
              <a:buNone/>
            </a:pPr>
            <a:r>
              <a:rPr lang="en-US" sz="1250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is execution — and your answers to the three questions.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Longitudinal &amp; Generative Foundation Models for 3D Medical Imaging</dc:title>
  <dc:subject>PptxGenJS Presentation</dc:subject>
  <dc:creator>Songlin Zhao</dc:creator>
  <cp:lastModifiedBy>Songlin Zhao</cp:lastModifiedBy>
  <cp:revision>1</cp:revision>
  <dcterms:created xsi:type="dcterms:W3CDTF">2026-05-22T04:08:18Z</dcterms:created>
  <dcterms:modified xsi:type="dcterms:W3CDTF">2026-05-22T04:08:18Z</dcterms:modified>
</cp:coreProperties>
</file>